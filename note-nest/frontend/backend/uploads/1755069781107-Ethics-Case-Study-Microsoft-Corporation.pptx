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embeddedFontLst>
    <p:embeddedFont>
      <p:font typeface="Arial Black" panose="020B0A04020102020204" pitchFamily="34" charset="0"/>
      <p:bold r:id="rId17"/>
    </p:embeddedFont>
    <p:embeddedFont>
      <p:font typeface="Calibri" panose="020F0502020204030204" pitchFamily="34" charset="0"/>
      <p:regular r:id="rId18"/>
      <p:bold r:id="rId19"/>
      <p:italic r:id="rId20"/>
      <p:boldItalic r:id="rId21"/>
    </p:embeddedFont>
    <p:embeddedFont>
      <p:font typeface="Instrument Sans Semi Bold" panose="020B0604020202020204" charset="0"/>
      <p:regular r:id="rId22"/>
    </p:embeddedFont>
    <p:embeddedFont>
      <p:font typeface="Instrument Sans Medium" panose="020B0604020202020204" charset="0"/>
      <p:regular r:id="rId23"/>
    </p:embeddedFont>
    <p:embeddedFont>
      <p:font typeface="Calibri Light" panose="020F0302020204030204" pitchFamily="34"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610"/>
  </p:normalViewPr>
  <p:slideViewPr>
    <p:cSldViewPr snapToGrid="0" snapToObjects="1">
      <p:cViewPr varScale="1">
        <p:scale>
          <a:sx n="61" d="100"/>
          <a:sy n="61" d="100"/>
        </p:scale>
        <p:origin x="59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4269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59602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06234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2266712"/>
            <a:ext cx="7556421" cy="1240155"/>
          </a:xfrm>
          <a:prstGeom prst="rect">
            <a:avLst/>
          </a:prstGeom>
          <a:noFill/>
          <a:ln/>
        </p:spPr>
        <p:txBody>
          <a:bodyPr wrap="square" lIns="0" tIns="0" rIns="0" bIns="0" rtlCol="0" anchor="t"/>
          <a:lstStyle/>
          <a:p>
            <a:pPr marL="0" indent="0" algn="l">
              <a:lnSpc>
                <a:spcPts val="4850"/>
              </a:lnSpc>
              <a:buNone/>
            </a:pPr>
            <a:endParaRPr lang="en-US" sz="3900" dirty="0"/>
          </a:p>
        </p:txBody>
      </p:sp>
      <p:sp>
        <p:nvSpPr>
          <p:cNvPr id="5" name="Shape 2"/>
          <p:cNvSpPr/>
          <p:nvPr/>
        </p:nvSpPr>
        <p:spPr>
          <a:xfrm>
            <a:off x="6280190" y="5630347"/>
            <a:ext cx="317540" cy="317540"/>
          </a:xfrm>
          <a:prstGeom prst="roundRect">
            <a:avLst>
              <a:gd name="adj" fmla="val 28793492"/>
            </a:avLst>
          </a:prstGeom>
          <a:noFill/>
          <a:ln w="7620">
            <a:solidFill>
              <a:srgbClr val="FFFFFF"/>
            </a:solidFill>
            <a:prstDash val="solid"/>
          </a:ln>
        </p:spPr>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887" t="9938" r="-107" b="6071"/>
          <a:stretch/>
        </p:blipFill>
        <p:spPr>
          <a:xfrm>
            <a:off x="-32084" y="-48127"/>
            <a:ext cx="14678526" cy="8261685"/>
          </a:xfrm>
          <a:prstGeom prst="rect">
            <a:avLst/>
          </a:prstGeom>
        </p:spPr>
      </p:pic>
      <p:sp>
        <p:nvSpPr>
          <p:cNvPr id="9" name="TextBox 8"/>
          <p:cNvSpPr txBox="1"/>
          <p:nvPr/>
        </p:nvSpPr>
        <p:spPr>
          <a:xfrm>
            <a:off x="-578604" y="650974"/>
            <a:ext cx="15993980" cy="2123658"/>
          </a:xfrm>
          <a:prstGeom prst="rect">
            <a:avLst/>
          </a:prstGeom>
          <a:noFill/>
        </p:spPr>
        <p:txBody>
          <a:bodyPr wrap="square" rtlCol="0">
            <a:spAutoFit/>
          </a:bodyPr>
          <a:lstStyle/>
          <a:p>
            <a:pPr algn="ctr"/>
            <a:r>
              <a:rPr lang="en-US" sz="6600" dirty="0" smtClean="0">
                <a:solidFill>
                  <a:schemeClr val="bg1"/>
                </a:solidFill>
                <a:effectLst>
                  <a:outerShdw blurRad="38100" dist="38100" dir="2700000" algn="tl">
                    <a:srgbClr val="000000">
                      <a:alpha val="43137"/>
                    </a:srgbClr>
                  </a:outerShdw>
                </a:effectLst>
                <a:latin typeface="Arial Black" panose="020B0A04020102020204" pitchFamily="34" charset="0"/>
                <a:ea typeface="Instrument Sans Semi Bold" pitchFamily="34" charset="-122"/>
                <a:cs typeface="Instrument Sans Semi Bold" pitchFamily="34" charset="-120"/>
              </a:rPr>
              <a:t>Ethics Case Study: Microsoft Corporation</a:t>
            </a:r>
            <a:endParaRPr lang="en-US" sz="6600" dirty="0" smtClean="0">
              <a:solidFill>
                <a:schemeClr val="bg1"/>
              </a:solidFill>
              <a:effectLst>
                <a:outerShdw blurRad="38100" dist="38100" dir="2700000" algn="tl">
                  <a:srgbClr val="000000">
                    <a:alpha val="43137"/>
                  </a:srgbClr>
                </a:outerShdw>
              </a:effectLst>
              <a:latin typeface="Arial Black" panose="020B0A04020102020204" pitchFamily="34" charset="0"/>
            </a:endParaRPr>
          </a:p>
        </p:txBody>
      </p:sp>
      <p:sp>
        <p:nvSpPr>
          <p:cNvPr id="2" name="Rectangle 1"/>
          <p:cNvSpPr/>
          <p:nvPr/>
        </p:nvSpPr>
        <p:spPr>
          <a:xfrm>
            <a:off x="12525868" y="7618731"/>
            <a:ext cx="1562094" cy="523220"/>
          </a:xfrm>
          <a:prstGeom prst="rect">
            <a:avLst/>
          </a:prstGeom>
        </p:spPr>
        <p:txBody>
          <a:bodyPr wrap="none">
            <a:spAutoFit/>
          </a:bodyPr>
          <a:lstStyle/>
          <a:p>
            <a:pPr algn="ctr"/>
            <a:r>
              <a:rPr lang="en-US" sz="2800" b="1" dirty="0">
                <a:solidFill>
                  <a:schemeClr val="bg1"/>
                </a:solidFill>
                <a:ea typeface="Instrument Sans Semi Bold" pitchFamily="34" charset="-122"/>
                <a:cs typeface="Instrument Sans Semi Bold" pitchFamily="34" charset="-120"/>
              </a:rPr>
              <a:t>Group 06</a:t>
            </a:r>
            <a:endParaRPr lang="en-US" sz="2800" b="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2950" y="510778"/>
            <a:ext cx="4643676" cy="580430"/>
          </a:xfrm>
          <a:prstGeom prst="rect">
            <a:avLst/>
          </a:prstGeom>
          <a:noFill/>
          <a:ln/>
        </p:spPr>
        <p:txBody>
          <a:bodyPr wrap="none" lIns="0" tIns="0" rIns="0" bIns="0" rtlCol="0" anchor="t"/>
          <a:lstStyle/>
          <a:p>
            <a:pPr marL="0" indent="0" algn="l">
              <a:lnSpc>
                <a:spcPts val="4550"/>
              </a:lnSpc>
              <a:buNone/>
            </a:pPr>
            <a:r>
              <a:rPr lang="en-US" sz="4000" b="1" dirty="0">
                <a:solidFill>
                  <a:srgbClr val="505468"/>
                </a:solidFill>
                <a:latin typeface="+mj-lt"/>
                <a:ea typeface="Instrument Sans Semi Bold" pitchFamily="34" charset="-122"/>
                <a:cs typeface="Instrument Sans Semi Bold" pitchFamily="34" charset="-120"/>
              </a:rPr>
              <a:t>Company Overview</a:t>
            </a:r>
            <a:endParaRPr lang="en-US" sz="4000" b="1" dirty="0">
              <a:latin typeface="+mj-lt"/>
            </a:endParaRPr>
          </a:p>
        </p:txBody>
      </p:sp>
      <p:sp>
        <p:nvSpPr>
          <p:cNvPr id="3" name="Text 1"/>
          <p:cNvSpPr/>
          <p:nvPr/>
        </p:nvSpPr>
        <p:spPr>
          <a:xfrm>
            <a:off x="742950" y="1536978"/>
            <a:ext cx="6345674" cy="1485900"/>
          </a:xfrm>
          <a:prstGeom prst="rect">
            <a:avLst/>
          </a:prstGeom>
          <a:noFill/>
          <a:ln/>
        </p:spPr>
        <p:txBody>
          <a:bodyPr wrap="square" lIns="0" tIns="0" rIns="0" bIns="0" rtlCol="0" anchor="t"/>
          <a:lstStyle/>
          <a:p>
            <a:pPr marL="0" indent="0" algn="l">
              <a:buNone/>
            </a:pPr>
            <a:r>
              <a:rPr lang="en-US" dirty="0">
                <a:solidFill>
                  <a:srgbClr val="5B5F71"/>
                </a:solidFill>
                <a:ea typeface="Instrument Sans Medium" pitchFamily="34" charset="-122"/>
                <a:cs typeface="Instrument Sans Medium" pitchFamily="34" charset="-120"/>
              </a:rPr>
              <a:t>Microsoft Corporation, founded on April 4, 1975, by Bill Gates and Paul Allen, has grown into one of the world's most influential technology companies. Headquartered in Redmond, Washington, USA, Microsoft offers a vast array of services and products that touch nearly every aspect of digital life</a:t>
            </a:r>
            <a:r>
              <a:rPr lang="en-US" sz="2000" dirty="0">
                <a:solidFill>
                  <a:srgbClr val="5B5F71"/>
                </a:solidFill>
                <a:ea typeface="Instrument Sans Medium" pitchFamily="34" charset="-122"/>
                <a:cs typeface="Instrument Sans Medium" pitchFamily="34" charset="-120"/>
              </a:rPr>
              <a:t>.</a:t>
            </a:r>
            <a:endParaRPr lang="en-US" sz="2000" dirty="0"/>
          </a:p>
        </p:txBody>
      </p:sp>
      <p:sp>
        <p:nvSpPr>
          <p:cNvPr id="4" name="Text 2"/>
          <p:cNvSpPr/>
          <p:nvPr/>
        </p:nvSpPr>
        <p:spPr>
          <a:xfrm>
            <a:off x="742950" y="3630161"/>
            <a:ext cx="6345674" cy="1485900"/>
          </a:xfrm>
          <a:prstGeom prst="rect">
            <a:avLst/>
          </a:prstGeom>
          <a:noFill/>
          <a:ln/>
        </p:spPr>
        <p:txBody>
          <a:bodyPr wrap="square" lIns="0" tIns="0" rIns="0" bIns="0" rtlCol="0" anchor="t"/>
          <a:lstStyle/>
          <a:p>
            <a:pPr marL="0" indent="0" algn="l">
              <a:lnSpc>
                <a:spcPts val="2300"/>
              </a:lnSpc>
              <a:buNone/>
            </a:pPr>
            <a:r>
              <a:rPr lang="en-US" dirty="0">
                <a:solidFill>
                  <a:srgbClr val="5B5F71"/>
                </a:solidFill>
                <a:ea typeface="Instrument Sans Medium" pitchFamily="34" charset="-122"/>
                <a:cs typeface="Instrument Sans Medium" pitchFamily="34" charset="-120"/>
              </a:rPr>
              <a:t>From its ubiquitous Windows operating system and Office suite to cloud services like Azure, social platforms like LinkedIn, and cutting-edge AI tools, Microsoft's global impact is undeniable. The company operates in over 190 countries, shaping how businesses function and individuals interact with technology daily</a:t>
            </a:r>
            <a:r>
              <a:rPr lang="en-US" sz="2000" dirty="0">
                <a:solidFill>
                  <a:srgbClr val="5B5F71"/>
                </a:solidFill>
                <a:ea typeface="Instrument Sans Medium" pitchFamily="34" charset="-122"/>
                <a:cs typeface="Instrument Sans Medium" pitchFamily="34" charset="-120"/>
              </a:rPr>
              <a:t>.</a:t>
            </a:r>
            <a:endParaRPr lang="en-US" sz="2000" dirty="0"/>
          </a:p>
        </p:txBody>
      </p:sp>
      <p:sp>
        <p:nvSpPr>
          <p:cNvPr id="5" name="Text 3"/>
          <p:cNvSpPr/>
          <p:nvPr/>
        </p:nvSpPr>
        <p:spPr>
          <a:xfrm>
            <a:off x="742950" y="5728562"/>
            <a:ext cx="6345674" cy="297180"/>
          </a:xfrm>
          <a:prstGeom prst="rect">
            <a:avLst/>
          </a:prstGeom>
          <a:noFill/>
          <a:ln/>
        </p:spPr>
        <p:txBody>
          <a:bodyPr wrap="none" lIns="0" tIns="0" rIns="0" bIns="0" rtlCol="0" anchor="t"/>
          <a:lstStyle/>
          <a:p>
            <a:pPr marL="342900" indent="-342900" algn="l">
              <a:lnSpc>
                <a:spcPts val="2300"/>
              </a:lnSpc>
              <a:buSzPct val="100000"/>
              <a:buChar char="•"/>
            </a:pPr>
            <a:r>
              <a:rPr lang="en-US" b="1" dirty="0">
                <a:solidFill>
                  <a:srgbClr val="5B5F71"/>
                </a:solidFill>
                <a:ea typeface="Instrument Sans Medium" pitchFamily="34" charset="-122"/>
                <a:cs typeface="Instrument Sans Medium" pitchFamily="34" charset="-120"/>
              </a:rPr>
              <a:t>Name:</a:t>
            </a:r>
            <a:r>
              <a:rPr lang="en-US" dirty="0">
                <a:solidFill>
                  <a:srgbClr val="5B5F71"/>
                </a:solidFill>
                <a:ea typeface="Instrument Sans Medium" pitchFamily="34" charset="-122"/>
                <a:cs typeface="Instrument Sans Medium" pitchFamily="34" charset="-120"/>
              </a:rPr>
              <a:t> Microsoft Corporation</a:t>
            </a:r>
            <a:endParaRPr lang="en-US" dirty="0"/>
          </a:p>
        </p:txBody>
      </p:sp>
      <p:sp>
        <p:nvSpPr>
          <p:cNvPr id="6" name="Text 4"/>
          <p:cNvSpPr/>
          <p:nvPr/>
        </p:nvSpPr>
        <p:spPr>
          <a:xfrm>
            <a:off x="742950" y="6090750"/>
            <a:ext cx="6345674" cy="297180"/>
          </a:xfrm>
          <a:prstGeom prst="rect">
            <a:avLst/>
          </a:prstGeom>
          <a:noFill/>
          <a:ln/>
        </p:spPr>
        <p:txBody>
          <a:bodyPr wrap="none" lIns="0" tIns="0" rIns="0" bIns="0" rtlCol="0" anchor="t"/>
          <a:lstStyle/>
          <a:p>
            <a:pPr marL="342900" indent="-342900" algn="l">
              <a:lnSpc>
                <a:spcPts val="2300"/>
              </a:lnSpc>
              <a:buSzPct val="100000"/>
              <a:buChar char="•"/>
            </a:pPr>
            <a:r>
              <a:rPr lang="en-US" b="1" dirty="0">
                <a:solidFill>
                  <a:srgbClr val="5B5F71"/>
                </a:solidFill>
                <a:ea typeface="Instrument Sans Medium" pitchFamily="34" charset="-122"/>
                <a:cs typeface="Instrument Sans Medium" pitchFamily="34" charset="-120"/>
              </a:rPr>
              <a:t>Founded:</a:t>
            </a:r>
            <a:r>
              <a:rPr lang="en-US" dirty="0">
                <a:solidFill>
                  <a:srgbClr val="5B5F71"/>
                </a:solidFill>
                <a:ea typeface="Instrument Sans Medium" pitchFamily="34" charset="-122"/>
                <a:cs typeface="Instrument Sans Medium" pitchFamily="34" charset="-120"/>
              </a:rPr>
              <a:t> April 4, 1975 by Bill Gates and Paul Allen</a:t>
            </a:r>
            <a:endParaRPr lang="en-US" dirty="0"/>
          </a:p>
        </p:txBody>
      </p:sp>
      <p:sp>
        <p:nvSpPr>
          <p:cNvPr id="7" name="Text 5"/>
          <p:cNvSpPr/>
          <p:nvPr/>
        </p:nvSpPr>
        <p:spPr>
          <a:xfrm>
            <a:off x="742950" y="6452938"/>
            <a:ext cx="6345674" cy="297180"/>
          </a:xfrm>
          <a:prstGeom prst="rect">
            <a:avLst/>
          </a:prstGeom>
          <a:noFill/>
          <a:ln/>
        </p:spPr>
        <p:txBody>
          <a:bodyPr wrap="none" lIns="0" tIns="0" rIns="0" bIns="0" rtlCol="0" anchor="t"/>
          <a:lstStyle/>
          <a:p>
            <a:pPr marL="342900" indent="-342900" algn="l">
              <a:lnSpc>
                <a:spcPts val="2300"/>
              </a:lnSpc>
              <a:buSzPct val="100000"/>
              <a:buChar char="•"/>
            </a:pPr>
            <a:r>
              <a:rPr lang="en-US" b="1" dirty="0">
                <a:solidFill>
                  <a:srgbClr val="5B5F71"/>
                </a:solidFill>
                <a:ea typeface="Instrument Sans Medium" pitchFamily="34" charset="-122"/>
                <a:cs typeface="Instrument Sans Medium" pitchFamily="34" charset="-120"/>
              </a:rPr>
              <a:t>Headquarters:</a:t>
            </a:r>
            <a:r>
              <a:rPr lang="en-US" dirty="0">
                <a:solidFill>
                  <a:srgbClr val="5B5F71"/>
                </a:solidFill>
                <a:ea typeface="Instrument Sans Medium" pitchFamily="34" charset="-122"/>
                <a:cs typeface="Instrument Sans Medium" pitchFamily="34" charset="-120"/>
              </a:rPr>
              <a:t> Redmond, Washington, USA</a:t>
            </a:r>
            <a:endParaRPr lang="en-US" dirty="0"/>
          </a:p>
        </p:txBody>
      </p:sp>
      <p:sp>
        <p:nvSpPr>
          <p:cNvPr id="8" name="Text 6"/>
          <p:cNvSpPr/>
          <p:nvPr/>
        </p:nvSpPr>
        <p:spPr>
          <a:xfrm>
            <a:off x="742950" y="6815126"/>
            <a:ext cx="6345674" cy="297180"/>
          </a:xfrm>
          <a:prstGeom prst="rect">
            <a:avLst/>
          </a:prstGeom>
          <a:noFill/>
          <a:ln/>
        </p:spPr>
        <p:txBody>
          <a:bodyPr wrap="none" lIns="0" tIns="0" rIns="0" bIns="0" rtlCol="0" anchor="t"/>
          <a:lstStyle/>
          <a:p>
            <a:pPr marL="342900" indent="-342900" algn="l">
              <a:lnSpc>
                <a:spcPts val="2300"/>
              </a:lnSpc>
              <a:buSzPct val="100000"/>
              <a:buChar char="•"/>
            </a:pPr>
            <a:r>
              <a:rPr lang="en-US" b="1" dirty="0">
                <a:solidFill>
                  <a:srgbClr val="5B5F71"/>
                </a:solidFill>
                <a:ea typeface="Instrument Sans Medium" pitchFamily="34" charset="-122"/>
                <a:cs typeface="Instrument Sans Medium" pitchFamily="34" charset="-120"/>
              </a:rPr>
              <a:t>Services:</a:t>
            </a:r>
            <a:r>
              <a:rPr lang="en-US" dirty="0">
                <a:solidFill>
                  <a:srgbClr val="5B5F71"/>
                </a:solidFill>
                <a:ea typeface="Instrument Sans Medium" pitchFamily="34" charset="-122"/>
                <a:cs typeface="Instrument Sans Medium" pitchFamily="34" charset="-120"/>
              </a:rPr>
              <a:t> Windows, Office, Azure, GitHub, LinkedIn, AI tools</a:t>
            </a:r>
            <a:endParaRPr lang="en-US" dirty="0"/>
          </a:p>
        </p:txBody>
      </p:sp>
      <p:sp>
        <p:nvSpPr>
          <p:cNvPr id="9" name="Text 7"/>
          <p:cNvSpPr/>
          <p:nvPr/>
        </p:nvSpPr>
        <p:spPr>
          <a:xfrm>
            <a:off x="742950" y="7178023"/>
            <a:ext cx="6345674" cy="297180"/>
          </a:xfrm>
          <a:prstGeom prst="rect">
            <a:avLst/>
          </a:prstGeom>
          <a:noFill/>
          <a:ln/>
        </p:spPr>
        <p:txBody>
          <a:bodyPr wrap="none" lIns="0" tIns="0" rIns="0" bIns="0" rtlCol="0" anchor="t"/>
          <a:lstStyle/>
          <a:p>
            <a:pPr marL="342900" indent="-342900" algn="l">
              <a:lnSpc>
                <a:spcPts val="2300"/>
              </a:lnSpc>
              <a:buSzPct val="100000"/>
              <a:buChar char="•"/>
            </a:pPr>
            <a:r>
              <a:rPr lang="en-US" b="1" dirty="0">
                <a:solidFill>
                  <a:srgbClr val="5B5F71"/>
                </a:solidFill>
                <a:ea typeface="Instrument Sans Medium" pitchFamily="34" charset="-122"/>
                <a:cs typeface="Instrument Sans Medium" pitchFamily="34" charset="-120"/>
              </a:rPr>
              <a:t>Global Impact:</a:t>
            </a:r>
            <a:r>
              <a:rPr lang="en-US" dirty="0">
                <a:solidFill>
                  <a:srgbClr val="5B5F71"/>
                </a:solidFill>
                <a:ea typeface="Instrument Sans Medium" pitchFamily="34" charset="-122"/>
                <a:cs typeface="Instrument Sans Medium" pitchFamily="34" charset="-120"/>
              </a:rPr>
              <a:t> Operates in 190+ countries</a:t>
            </a:r>
            <a:endParaRPr lang="en-US"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827" y="2279928"/>
            <a:ext cx="6345674" cy="4366616"/>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3336" y="96225"/>
            <a:ext cx="5665801" cy="2086045"/>
          </a:xfrm>
          <a:prstGeom prst="rect">
            <a:avLst/>
          </a:prstGeom>
        </p:spPr>
      </p:pic>
      <p:sp>
        <p:nvSpPr>
          <p:cNvPr id="10" name="Rectangle 9"/>
          <p:cNvSpPr/>
          <p:nvPr/>
        </p:nvSpPr>
        <p:spPr>
          <a:xfrm>
            <a:off x="12181668" y="7584399"/>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15077"/>
            <a:ext cx="4395430" cy="496133"/>
          </a:xfrm>
          <a:prstGeom prst="rect">
            <a:avLst/>
          </a:prstGeom>
          <a:noFill/>
          <a:ln/>
        </p:spPr>
        <p:txBody>
          <a:bodyPr wrap="none" lIns="0" tIns="0" rIns="0" bIns="0" rtlCol="0" anchor="t"/>
          <a:lstStyle/>
          <a:p>
            <a:pPr marL="0" indent="0" algn="l">
              <a:lnSpc>
                <a:spcPts val="3900"/>
              </a:lnSpc>
              <a:buNone/>
            </a:pPr>
            <a:r>
              <a:rPr lang="en-US" sz="4000" b="1" dirty="0">
                <a:solidFill>
                  <a:srgbClr val="505468"/>
                </a:solidFill>
                <a:latin typeface="+mj-lt"/>
                <a:ea typeface="Instrument Sans Semi Bold" pitchFamily="34" charset="-122"/>
                <a:cs typeface="Instrument Sans Semi Bold" pitchFamily="34" charset="-120"/>
              </a:rPr>
              <a:t>Key Ethical Focus Areas</a:t>
            </a:r>
            <a:endParaRPr lang="en-US" sz="4000" b="1" dirty="0">
              <a:latin typeface="+mj-lt"/>
            </a:endParaRPr>
          </a:p>
        </p:txBody>
      </p:sp>
      <p:sp>
        <p:nvSpPr>
          <p:cNvPr id="3" name="Text 1"/>
          <p:cNvSpPr/>
          <p:nvPr/>
        </p:nvSpPr>
        <p:spPr>
          <a:xfrm>
            <a:off x="793790" y="1428750"/>
            <a:ext cx="13042821" cy="508159"/>
          </a:xfrm>
          <a:prstGeom prst="rect">
            <a:avLst/>
          </a:prstGeom>
          <a:noFill/>
          <a:ln/>
        </p:spPr>
        <p:txBody>
          <a:bodyPr wrap="square" lIns="0" tIns="0" rIns="0" bIns="0" rtlCol="0" anchor="t"/>
          <a:lstStyle/>
          <a:p>
            <a:pPr marL="0" indent="0" algn="l">
              <a:lnSpc>
                <a:spcPts val="2000"/>
              </a:lnSpc>
              <a:buNone/>
            </a:pPr>
            <a:r>
              <a:rPr lang="en-US" dirty="0">
                <a:solidFill>
                  <a:srgbClr val="5B5F71"/>
                </a:solidFill>
                <a:ea typeface="Instrument Sans Medium" pitchFamily="34" charset="-122"/>
                <a:cs typeface="Instrument Sans Medium" pitchFamily="34" charset="-120"/>
              </a:rPr>
              <a:t>Microsoft's commitment to ethical conduct is reflected in several key areas that guide its operations and interactions. These pillars ensure the company upholds its responsibilities to customers, employees, and society at large.</a:t>
            </a:r>
            <a:endParaRPr lang="en-US" dirty="0"/>
          </a:p>
        </p:txBody>
      </p:sp>
      <p:sp>
        <p:nvSpPr>
          <p:cNvPr id="4" name="Shape 2"/>
          <p:cNvSpPr/>
          <p:nvPr/>
        </p:nvSpPr>
        <p:spPr>
          <a:xfrm>
            <a:off x="793790" y="2115503"/>
            <a:ext cx="357188" cy="357188"/>
          </a:xfrm>
          <a:prstGeom prst="roundRect">
            <a:avLst>
              <a:gd name="adj" fmla="val 18670"/>
            </a:avLst>
          </a:prstGeom>
          <a:solidFill>
            <a:srgbClr val="E2E3E9"/>
          </a:solidFill>
          <a:ln w="7620">
            <a:solidFill>
              <a:srgbClr val="C8C9CF"/>
            </a:solidFill>
            <a:prstDash val="solid"/>
          </a:ln>
        </p:spPr>
      </p:sp>
      <p:sp>
        <p:nvSpPr>
          <p:cNvPr id="5" name="Text 3"/>
          <p:cNvSpPr/>
          <p:nvPr/>
        </p:nvSpPr>
        <p:spPr>
          <a:xfrm>
            <a:off x="853321" y="2145268"/>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1</a:t>
            </a:r>
            <a:endParaRPr lang="en-US" sz="1850" dirty="0"/>
          </a:p>
        </p:txBody>
      </p:sp>
      <p:sp>
        <p:nvSpPr>
          <p:cNvPr id="6" name="Text 4"/>
          <p:cNvSpPr/>
          <p:nvPr/>
        </p:nvSpPr>
        <p:spPr>
          <a:xfrm>
            <a:off x="1309687" y="2170033"/>
            <a:ext cx="2644378" cy="248007"/>
          </a:xfrm>
          <a:prstGeom prst="rect">
            <a:avLst/>
          </a:prstGeom>
          <a:noFill/>
          <a:ln/>
        </p:spPr>
        <p:txBody>
          <a:bodyPr wrap="none" lIns="0" tIns="0" rIns="0" bIns="0" rtlCol="0" anchor="t"/>
          <a:lstStyle/>
          <a:p>
            <a:pPr marL="0" indent="0" algn="l">
              <a:lnSpc>
                <a:spcPts val="1950"/>
              </a:lnSpc>
              <a:buNone/>
            </a:pPr>
            <a:r>
              <a:rPr lang="en-US" sz="2000" dirty="0">
                <a:solidFill>
                  <a:srgbClr val="5B5F71"/>
                </a:solidFill>
                <a:ea typeface="Instrument Sans Semi Bold" pitchFamily="34" charset="-122"/>
                <a:cs typeface="Instrument Sans Semi Bold" pitchFamily="34" charset="-120"/>
              </a:rPr>
              <a:t>Code of Conduct and Values</a:t>
            </a:r>
            <a:endParaRPr lang="en-US" sz="2000" dirty="0"/>
          </a:p>
        </p:txBody>
      </p:sp>
      <p:sp>
        <p:nvSpPr>
          <p:cNvPr id="7" name="Text 5"/>
          <p:cNvSpPr/>
          <p:nvPr/>
        </p:nvSpPr>
        <p:spPr>
          <a:xfrm>
            <a:off x="1309687" y="2513290"/>
            <a:ext cx="12526923" cy="254079"/>
          </a:xfrm>
          <a:prstGeom prst="rect">
            <a:avLst/>
          </a:prstGeom>
          <a:noFill/>
          <a:ln/>
        </p:spPr>
        <p:txBody>
          <a:bodyPr wrap="none" lIns="0" tIns="0" rIns="0" bIns="0" rtlCol="0" anchor="t"/>
          <a:lstStyle/>
          <a:p>
            <a:pPr marL="0" indent="0" algn="l">
              <a:lnSpc>
                <a:spcPts val="2000"/>
              </a:lnSpc>
              <a:buNone/>
            </a:pPr>
            <a:r>
              <a:rPr lang="en-US" dirty="0">
                <a:solidFill>
                  <a:srgbClr val="5B5F71"/>
                </a:solidFill>
                <a:ea typeface="Instrument Sans Medium" pitchFamily="34" charset="-122"/>
                <a:cs typeface="Instrument Sans Medium" pitchFamily="34" charset="-120"/>
              </a:rPr>
              <a:t>Establishing fundamental principles for all employees.</a:t>
            </a:r>
            <a:endParaRPr lang="en-US" dirty="0"/>
          </a:p>
        </p:txBody>
      </p:sp>
      <p:sp>
        <p:nvSpPr>
          <p:cNvPr id="8" name="Shape 6"/>
          <p:cNvSpPr/>
          <p:nvPr/>
        </p:nvSpPr>
        <p:spPr>
          <a:xfrm>
            <a:off x="793790" y="3084909"/>
            <a:ext cx="357188" cy="357188"/>
          </a:xfrm>
          <a:prstGeom prst="roundRect">
            <a:avLst>
              <a:gd name="adj" fmla="val 18670"/>
            </a:avLst>
          </a:prstGeom>
          <a:solidFill>
            <a:srgbClr val="E2E3E9"/>
          </a:solidFill>
          <a:ln w="7620">
            <a:solidFill>
              <a:srgbClr val="C8C9CF"/>
            </a:solidFill>
            <a:prstDash val="solid"/>
          </a:ln>
        </p:spPr>
      </p:sp>
      <p:sp>
        <p:nvSpPr>
          <p:cNvPr id="9" name="Text 7"/>
          <p:cNvSpPr/>
          <p:nvPr/>
        </p:nvSpPr>
        <p:spPr>
          <a:xfrm>
            <a:off x="853321" y="3114675"/>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2</a:t>
            </a:r>
            <a:endParaRPr lang="en-US" sz="1850" dirty="0"/>
          </a:p>
        </p:txBody>
      </p:sp>
      <p:sp>
        <p:nvSpPr>
          <p:cNvPr id="10" name="Text 8"/>
          <p:cNvSpPr/>
          <p:nvPr/>
        </p:nvSpPr>
        <p:spPr>
          <a:xfrm>
            <a:off x="1309687" y="3139440"/>
            <a:ext cx="2387084" cy="248007"/>
          </a:xfrm>
          <a:prstGeom prst="rect">
            <a:avLst/>
          </a:prstGeom>
          <a:noFill/>
          <a:ln/>
        </p:spPr>
        <p:txBody>
          <a:bodyPr wrap="none" lIns="0" tIns="0" rIns="0" bIns="0" rtlCol="0" anchor="t"/>
          <a:lstStyle/>
          <a:p>
            <a:pPr marL="0" indent="0" algn="l">
              <a:lnSpc>
                <a:spcPts val="1950"/>
              </a:lnSpc>
              <a:buNone/>
            </a:pPr>
            <a:r>
              <a:rPr lang="en-US" sz="2000" dirty="0">
                <a:solidFill>
                  <a:srgbClr val="5B5F71"/>
                </a:solidFill>
                <a:ea typeface="Instrument Sans Semi Bold" pitchFamily="34" charset="-122"/>
                <a:cs typeface="Instrument Sans Semi Bold" pitchFamily="34" charset="-120"/>
              </a:rPr>
              <a:t>Privacy &amp; Data Protection</a:t>
            </a:r>
            <a:endParaRPr lang="en-US" sz="2000" dirty="0"/>
          </a:p>
        </p:txBody>
      </p:sp>
      <p:sp>
        <p:nvSpPr>
          <p:cNvPr id="11" name="Text 9"/>
          <p:cNvSpPr/>
          <p:nvPr/>
        </p:nvSpPr>
        <p:spPr>
          <a:xfrm>
            <a:off x="1309687" y="3482697"/>
            <a:ext cx="12526923" cy="254079"/>
          </a:xfrm>
          <a:prstGeom prst="rect">
            <a:avLst/>
          </a:prstGeom>
          <a:noFill/>
          <a:ln/>
        </p:spPr>
        <p:txBody>
          <a:bodyPr wrap="none" lIns="0" tIns="0" rIns="0" bIns="0" rtlCol="0" anchor="t"/>
          <a:lstStyle/>
          <a:p>
            <a:pPr marL="0" indent="0" algn="l">
              <a:lnSpc>
                <a:spcPts val="2000"/>
              </a:lnSpc>
              <a:buNone/>
            </a:pPr>
            <a:r>
              <a:rPr lang="en-US" dirty="0">
                <a:solidFill>
                  <a:srgbClr val="5B5F71"/>
                </a:solidFill>
                <a:ea typeface="Instrument Sans Medium" pitchFamily="34" charset="-122"/>
                <a:cs typeface="Instrument Sans Medium" pitchFamily="34" charset="-120"/>
              </a:rPr>
              <a:t>Safeguarding user data and ensuring transparency</a:t>
            </a:r>
            <a:r>
              <a:rPr lang="en-US" sz="1250" dirty="0">
                <a:solidFill>
                  <a:srgbClr val="5B5F71"/>
                </a:solidFill>
                <a:ea typeface="Instrument Sans Medium" pitchFamily="34" charset="-122"/>
                <a:cs typeface="Instrument Sans Medium" pitchFamily="34" charset="-120"/>
              </a:rPr>
              <a:t>.</a:t>
            </a:r>
            <a:endParaRPr lang="en-US" sz="1250" dirty="0"/>
          </a:p>
        </p:txBody>
      </p:sp>
      <p:sp>
        <p:nvSpPr>
          <p:cNvPr id="12" name="Shape 10"/>
          <p:cNvSpPr/>
          <p:nvPr/>
        </p:nvSpPr>
        <p:spPr>
          <a:xfrm>
            <a:off x="793790" y="4054316"/>
            <a:ext cx="357188" cy="357188"/>
          </a:xfrm>
          <a:prstGeom prst="roundRect">
            <a:avLst>
              <a:gd name="adj" fmla="val 18670"/>
            </a:avLst>
          </a:prstGeom>
          <a:solidFill>
            <a:srgbClr val="E2E3E9"/>
          </a:solidFill>
          <a:ln w="7620">
            <a:solidFill>
              <a:srgbClr val="C8C9CF"/>
            </a:solidFill>
            <a:prstDash val="solid"/>
          </a:ln>
        </p:spPr>
      </p:sp>
      <p:sp>
        <p:nvSpPr>
          <p:cNvPr id="13" name="Text 11"/>
          <p:cNvSpPr/>
          <p:nvPr/>
        </p:nvSpPr>
        <p:spPr>
          <a:xfrm>
            <a:off x="853321" y="4084082"/>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3</a:t>
            </a:r>
            <a:endParaRPr lang="en-US" sz="1850" dirty="0"/>
          </a:p>
        </p:txBody>
      </p:sp>
      <p:sp>
        <p:nvSpPr>
          <p:cNvPr id="14" name="Text 12"/>
          <p:cNvSpPr/>
          <p:nvPr/>
        </p:nvSpPr>
        <p:spPr>
          <a:xfrm>
            <a:off x="1309687" y="4108847"/>
            <a:ext cx="1984653" cy="248007"/>
          </a:xfrm>
          <a:prstGeom prst="rect">
            <a:avLst/>
          </a:prstGeom>
          <a:noFill/>
          <a:ln/>
        </p:spPr>
        <p:txBody>
          <a:bodyPr wrap="none" lIns="0" tIns="0" rIns="0" bIns="0" rtlCol="0" anchor="t"/>
          <a:lstStyle/>
          <a:p>
            <a:pPr marL="0" indent="0" algn="l">
              <a:lnSpc>
                <a:spcPts val="1950"/>
              </a:lnSpc>
              <a:buNone/>
            </a:pPr>
            <a:r>
              <a:rPr lang="en-US" sz="2000" dirty="0">
                <a:solidFill>
                  <a:srgbClr val="5B5F71"/>
                </a:solidFill>
                <a:ea typeface="Instrument Sans Semi Bold" pitchFamily="34" charset="-122"/>
                <a:cs typeface="Instrument Sans Semi Bold" pitchFamily="34" charset="-120"/>
              </a:rPr>
              <a:t>Intellectual Property</a:t>
            </a:r>
            <a:endParaRPr lang="en-US" sz="2000" dirty="0"/>
          </a:p>
        </p:txBody>
      </p:sp>
      <p:sp>
        <p:nvSpPr>
          <p:cNvPr id="15" name="Text 13"/>
          <p:cNvSpPr/>
          <p:nvPr/>
        </p:nvSpPr>
        <p:spPr>
          <a:xfrm>
            <a:off x="1309687" y="4452104"/>
            <a:ext cx="12526923" cy="254079"/>
          </a:xfrm>
          <a:prstGeom prst="rect">
            <a:avLst/>
          </a:prstGeom>
          <a:noFill/>
          <a:ln/>
        </p:spPr>
        <p:txBody>
          <a:bodyPr wrap="none" lIns="0" tIns="0" rIns="0" bIns="0" rtlCol="0" anchor="t"/>
          <a:lstStyle/>
          <a:p>
            <a:pPr marL="0" indent="0" algn="l">
              <a:lnSpc>
                <a:spcPts val="2000"/>
              </a:lnSpc>
              <a:buNone/>
            </a:pPr>
            <a:r>
              <a:rPr lang="en-US" dirty="0">
                <a:solidFill>
                  <a:srgbClr val="5B5F71"/>
                </a:solidFill>
                <a:ea typeface="Instrument Sans Medium" pitchFamily="34" charset="-122"/>
                <a:cs typeface="Instrument Sans Medium" pitchFamily="34" charset="-120"/>
              </a:rPr>
              <a:t>Protecting innovation while fostering collaboration</a:t>
            </a:r>
            <a:r>
              <a:rPr lang="en-US" sz="1250" dirty="0">
                <a:solidFill>
                  <a:srgbClr val="5B5F71"/>
                </a:solidFill>
                <a:ea typeface="Instrument Sans Medium" pitchFamily="34" charset="-122"/>
                <a:cs typeface="Instrument Sans Medium" pitchFamily="34" charset="-120"/>
              </a:rPr>
              <a:t>.</a:t>
            </a:r>
            <a:endParaRPr lang="en-US" sz="1250" dirty="0"/>
          </a:p>
        </p:txBody>
      </p:sp>
      <p:sp>
        <p:nvSpPr>
          <p:cNvPr id="16" name="Shape 14"/>
          <p:cNvSpPr/>
          <p:nvPr/>
        </p:nvSpPr>
        <p:spPr>
          <a:xfrm>
            <a:off x="793790" y="5023723"/>
            <a:ext cx="357188" cy="357188"/>
          </a:xfrm>
          <a:prstGeom prst="roundRect">
            <a:avLst>
              <a:gd name="adj" fmla="val 18670"/>
            </a:avLst>
          </a:prstGeom>
          <a:solidFill>
            <a:srgbClr val="E2E3E9"/>
          </a:solidFill>
          <a:ln w="7620">
            <a:solidFill>
              <a:srgbClr val="C8C9CF"/>
            </a:solidFill>
            <a:prstDash val="solid"/>
          </a:ln>
        </p:spPr>
      </p:sp>
      <p:sp>
        <p:nvSpPr>
          <p:cNvPr id="17" name="Text 15"/>
          <p:cNvSpPr/>
          <p:nvPr/>
        </p:nvSpPr>
        <p:spPr>
          <a:xfrm>
            <a:off x="853321" y="5053489"/>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4</a:t>
            </a:r>
            <a:endParaRPr lang="en-US" sz="1850" dirty="0"/>
          </a:p>
        </p:txBody>
      </p:sp>
      <p:sp>
        <p:nvSpPr>
          <p:cNvPr id="18" name="Text 16"/>
          <p:cNvSpPr/>
          <p:nvPr/>
        </p:nvSpPr>
        <p:spPr>
          <a:xfrm>
            <a:off x="1309687" y="5078254"/>
            <a:ext cx="2912150" cy="248007"/>
          </a:xfrm>
          <a:prstGeom prst="rect">
            <a:avLst/>
          </a:prstGeom>
          <a:noFill/>
          <a:ln/>
        </p:spPr>
        <p:txBody>
          <a:bodyPr wrap="none" lIns="0" tIns="0" rIns="0" bIns="0" rtlCol="0" anchor="t"/>
          <a:lstStyle/>
          <a:p>
            <a:pPr marL="0" indent="0" algn="l">
              <a:lnSpc>
                <a:spcPts val="1950"/>
              </a:lnSpc>
              <a:buNone/>
            </a:pPr>
            <a:r>
              <a:rPr lang="en-US" sz="2000" dirty="0">
                <a:solidFill>
                  <a:srgbClr val="5B5F71"/>
                </a:solidFill>
                <a:ea typeface="Instrument Sans Semi Bold" pitchFamily="34" charset="-122"/>
                <a:cs typeface="Instrument Sans Semi Bold" pitchFamily="34" charset="-120"/>
              </a:rPr>
              <a:t>Corporate Social Responsibility</a:t>
            </a:r>
            <a:endParaRPr lang="en-US" sz="2000" dirty="0"/>
          </a:p>
        </p:txBody>
      </p:sp>
      <p:sp>
        <p:nvSpPr>
          <p:cNvPr id="19" name="Text 17"/>
          <p:cNvSpPr/>
          <p:nvPr/>
        </p:nvSpPr>
        <p:spPr>
          <a:xfrm>
            <a:off x="1309687" y="5421511"/>
            <a:ext cx="12526923" cy="254079"/>
          </a:xfrm>
          <a:prstGeom prst="rect">
            <a:avLst/>
          </a:prstGeom>
          <a:noFill/>
          <a:ln/>
        </p:spPr>
        <p:txBody>
          <a:bodyPr wrap="none" lIns="0" tIns="0" rIns="0" bIns="0" rtlCol="0" anchor="t"/>
          <a:lstStyle/>
          <a:p>
            <a:pPr marL="0" indent="0" algn="l">
              <a:lnSpc>
                <a:spcPts val="2000"/>
              </a:lnSpc>
              <a:buNone/>
            </a:pPr>
            <a:r>
              <a:rPr lang="en-US" dirty="0">
                <a:solidFill>
                  <a:srgbClr val="5B5F71"/>
                </a:solidFill>
                <a:ea typeface="Instrument Sans Medium" pitchFamily="34" charset="-122"/>
                <a:cs typeface="Instrument Sans Medium" pitchFamily="34" charset="-120"/>
              </a:rPr>
              <a:t>Contributing positively to global communities</a:t>
            </a:r>
            <a:r>
              <a:rPr lang="en-US" sz="1250" dirty="0">
                <a:solidFill>
                  <a:srgbClr val="5B5F71"/>
                </a:solidFill>
                <a:ea typeface="Instrument Sans Medium" pitchFamily="34" charset="-122"/>
                <a:cs typeface="Instrument Sans Medium" pitchFamily="34" charset="-120"/>
              </a:rPr>
              <a:t>.</a:t>
            </a:r>
            <a:endParaRPr lang="en-US" sz="1250" dirty="0"/>
          </a:p>
        </p:txBody>
      </p:sp>
      <p:sp>
        <p:nvSpPr>
          <p:cNvPr id="20" name="Shape 18"/>
          <p:cNvSpPr/>
          <p:nvPr/>
        </p:nvSpPr>
        <p:spPr>
          <a:xfrm>
            <a:off x="793790" y="5993130"/>
            <a:ext cx="357188" cy="357188"/>
          </a:xfrm>
          <a:prstGeom prst="roundRect">
            <a:avLst>
              <a:gd name="adj" fmla="val 18670"/>
            </a:avLst>
          </a:prstGeom>
          <a:solidFill>
            <a:srgbClr val="E2E3E9"/>
          </a:solidFill>
          <a:ln w="7620">
            <a:solidFill>
              <a:srgbClr val="C8C9CF"/>
            </a:solidFill>
            <a:prstDash val="solid"/>
          </a:ln>
        </p:spPr>
      </p:sp>
      <p:sp>
        <p:nvSpPr>
          <p:cNvPr id="21" name="Text 19"/>
          <p:cNvSpPr/>
          <p:nvPr/>
        </p:nvSpPr>
        <p:spPr>
          <a:xfrm>
            <a:off x="853321" y="6022896"/>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5</a:t>
            </a:r>
            <a:endParaRPr lang="en-US" sz="1850" dirty="0"/>
          </a:p>
        </p:txBody>
      </p:sp>
      <p:sp>
        <p:nvSpPr>
          <p:cNvPr id="22" name="Text 20"/>
          <p:cNvSpPr/>
          <p:nvPr/>
        </p:nvSpPr>
        <p:spPr>
          <a:xfrm>
            <a:off x="1309687" y="6047661"/>
            <a:ext cx="2687003" cy="248007"/>
          </a:xfrm>
          <a:prstGeom prst="rect">
            <a:avLst/>
          </a:prstGeom>
          <a:noFill/>
          <a:ln/>
        </p:spPr>
        <p:txBody>
          <a:bodyPr wrap="none" lIns="0" tIns="0" rIns="0" bIns="0" rtlCol="0" anchor="t"/>
          <a:lstStyle/>
          <a:p>
            <a:pPr marL="0" indent="0" algn="l">
              <a:lnSpc>
                <a:spcPts val="1950"/>
              </a:lnSpc>
              <a:buNone/>
            </a:pPr>
            <a:r>
              <a:rPr lang="en-US" sz="2000" dirty="0">
                <a:solidFill>
                  <a:srgbClr val="5B5F71"/>
                </a:solidFill>
                <a:ea typeface="Instrument Sans Semi Bold" pitchFamily="34" charset="-122"/>
                <a:cs typeface="Instrument Sans Semi Bold" pitchFamily="34" charset="-120"/>
              </a:rPr>
              <a:t>Environmental Sustainability</a:t>
            </a:r>
            <a:endParaRPr lang="en-US" sz="2000" dirty="0"/>
          </a:p>
        </p:txBody>
      </p:sp>
      <p:sp>
        <p:nvSpPr>
          <p:cNvPr id="23" name="Text 21"/>
          <p:cNvSpPr/>
          <p:nvPr/>
        </p:nvSpPr>
        <p:spPr>
          <a:xfrm>
            <a:off x="1309687" y="6390918"/>
            <a:ext cx="12526923" cy="254079"/>
          </a:xfrm>
          <a:prstGeom prst="rect">
            <a:avLst/>
          </a:prstGeom>
          <a:noFill/>
          <a:ln/>
        </p:spPr>
        <p:txBody>
          <a:bodyPr wrap="none" lIns="0" tIns="0" rIns="0" bIns="0" rtlCol="0" anchor="t"/>
          <a:lstStyle/>
          <a:p>
            <a:pPr marL="0" indent="0" algn="l">
              <a:lnSpc>
                <a:spcPts val="2000"/>
              </a:lnSpc>
              <a:buNone/>
            </a:pPr>
            <a:r>
              <a:rPr lang="en-US" dirty="0">
                <a:solidFill>
                  <a:srgbClr val="5B5F71"/>
                </a:solidFill>
                <a:ea typeface="Instrument Sans Medium" pitchFamily="34" charset="-122"/>
                <a:cs typeface="Instrument Sans Medium" pitchFamily="34" charset="-120"/>
              </a:rPr>
              <a:t>Minimizing environmental footprint and promoting green practices</a:t>
            </a:r>
            <a:r>
              <a:rPr lang="en-US" sz="1250" dirty="0">
                <a:solidFill>
                  <a:srgbClr val="5B5F71"/>
                </a:solidFill>
                <a:ea typeface="Instrument Sans Medium" pitchFamily="34" charset="-122"/>
                <a:cs typeface="Instrument Sans Medium" pitchFamily="34" charset="-120"/>
              </a:rPr>
              <a:t>.</a:t>
            </a:r>
            <a:endParaRPr lang="en-US" sz="1250" dirty="0"/>
          </a:p>
        </p:txBody>
      </p:sp>
      <p:sp>
        <p:nvSpPr>
          <p:cNvPr id="24" name="Shape 22"/>
          <p:cNvSpPr/>
          <p:nvPr/>
        </p:nvSpPr>
        <p:spPr>
          <a:xfrm>
            <a:off x="793790" y="6962537"/>
            <a:ext cx="357188" cy="357188"/>
          </a:xfrm>
          <a:prstGeom prst="roundRect">
            <a:avLst>
              <a:gd name="adj" fmla="val 18670"/>
            </a:avLst>
          </a:prstGeom>
          <a:solidFill>
            <a:srgbClr val="E2E3E9"/>
          </a:solidFill>
          <a:ln w="7620">
            <a:solidFill>
              <a:srgbClr val="C8C9CF"/>
            </a:solidFill>
            <a:prstDash val="solid"/>
          </a:ln>
        </p:spPr>
      </p:sp>
      <p:sp>
        <p:nvSpPr>
          <p:cNvPr id="25" name="Text 23"/>
          <p:cNvSpPr/>
          <p:nvPr/>
        </p:nvSpPr>
        <p:spPr>
          <a:xfrm>
            <a:off x="853321" y="6992302"/>
            <a:ext cx="238125" cy="297656"/>
          </a:xfrm>
          <a:prstGeom prst="rect">
            <a:avLst/>
          </a:prstGeom>
          <a:noFill/>
          <a:ln/>
        </p:spPr>
        <p:txBody>
          <a:bodyPr wrap="none" lIns="0" tIns="0" rIns="0" bIns="0" rtlCol="0" anchor="t"/>
          <a:lstStyle/>
          <a:p>
            <a:pPr marL="0" indent="0" algn="ctr">
              <a:lnSpc>
                <a:spcPts val="1850"/>
              </a:lnSpc>
              <a:buNone/>
            </a:pPr>
            <a:r>
              <a:rPr lang="en-US" sz="1850" dirty="0">
                <a:solidFill>
                  <a:srgbClr val="5B5F71"/>
                </a:solidFill>
                <a:latin typeface="Instrument Sans Semi Bold" pitchFamily="34" charset="0"/>
                <a:ea typeface="Instrument Sans Semi Bold" pitchFamily="34" charset="-122"/>
                <a:cs typeface="Instrument Sans Semi Bold" pitchFamily="34" charset="-120"/>
              </a:rPr>
              <a:t>6</a:t>
            </a:r>
            <a:endParaRPr lang="en-US" sz="1850" dirty="0"/>
          </a:p>
        </p:txBody>
      </p:sp>
      <p:sp>
        <p:nvSpPr>
          <p:cNvPr id="26" name="Text 24"/>
          <p:cNvSpPr/>
          <p:nvPr/>
        </p:nvSpPr>
        <p:spPr>
          <a:xfrm>
            <a:off x="1309687" y="7017068"/>
            <a:ext cx="2688431" cy="248007"/>
          </a:xfrm>
          <a:prstGeom prst="rect">
            <a:avLst/>
          </a:prstGeom>
          <a:noFill/>
          <a:ln/>
        </p:spPr>
        <p:txBody>
          <a:bodyPr wrap="none" lIns="0" tIns="0" rIns="0" bIns="0" rtlCol="0" anchor="t"/>
          <a:lstStyle/>
          <a:p>
            <a:pPr marL="0" indent="0" algn="l">
              <a:lnSpc>
                <a:spcPts val="1950"/>
              </a:lnSpc>
              <a:buNone/>
            </a:pPr>
            <a:r>
              <a:rPr lang="en-US" sz="2000" dirty="0">
                <a:solidFill>
                  <a:srgbClr val="5B5F71"/>
                </a:solidFill>
                <a:ea typeface="Instrument Sans Semi Bold" pitchFamily="34" charset="-122"/>
                <a:cs typeface="Instrument Sans Semi Bold" pitchFamily="34" charset="-120"/>
              </a:rPr>
              <a:t>Workplace Ethics &amp; Diversity</a:t>
            </a:r>
            <a:endParaRPr lang="en-US" sz="2000" dirty="0"/>
          </a:p>
        </p:txBody>
      </p:sp>
      <p:sp>
        <p:nvSpPr>
          <p:cNvPr id="27" name="Text 25"/>
          <p:cNvSpPr/>
          <p:nvPr/>
        </p:nvSpPr>
        <p:spPr>
          <a:xfrm>
            <a:off x="1309687" y="7360325"/>
            <a:ext cx="12526923" cy="254079"/>
          </a:xfrm>
          <a:prstGeom prst="rect">
            <a:avLst/>
          </a:prstGeom>
          <a:noFill/>
          <a:ln/>
        </p:spPr>
        <p:txBody>
          <a:bodyPr wrap="none" lIns="0" tIns="0" rIns="0" bIns="0" rtlCol="0" anchor="t"/>
          <a:lstStyle/>
          <a:p>
            <a:pPr marL="0" indent="0" algn="l">
              <a:lnSpc>
                <a:spcPts val="2000"/>
              </a:lnSpc>
              <a:buNone/>
            </a:pPr>
            <a:r>
              <a:rPr lang="en-US" dirty="0">
                <a:solidFill>
                  <a:srgbClr val="5B5F71"/>
                </a:solidFill>
                <a:ea typeface="Instrument Sans Medium" pitchFamily="34" charset="-122"/>
                <a:cs typeface="Instrument Sans Medium" pitchFamily="34" charset="-120"/>
              </a:rPr>
              <a:t>Fostering an inclusive and respectful work environment.</a:t>
            </a:r>
            <a:endParaRPr lang="en-US" dirty="0"/>
          </a:p>
        </p:txBody>
      </p:sp>
      <p:sp>
        <p:nvSpPr>
          <p:cNvPr id="32" name="Rectangle 31"/>
          <p:cNvSpPr/>
          <p:nvPr/>
        </p:nvSpPr>
        <p:spPr>
          <a:xfrm>
            <a:off x="12181668" y="7584399"/>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2810" y="393859"/>
            <a:ext cx="4295061" cy="402788"/>
          </a:xfrm>
          <a:prstGeom prst="rect">
            <a:avLst/>
          </a:prstGeom>
          <a:noFill/>
          <a:ln/>
        </p:spPr>
        <p:txBody>
          <a:bodyPr wrap="none" lIns="0" tIns="0" rIns="0" bIns="0" rtlCol="0" anchor="t"/>
          <a:lstStyle/>
          <a:p>
            <a:pPr marL="0" indent="0" algn="l">
              <a:lnSpc>
                <a:spcPts val="3150"/>
              </a:lnSpc>
              <a:buNone/>
            </a:pPr>
            <a:r>
              <a:rPr lang="en-US" sz="3200" b="1" dirty="0" smtClean="0">
                <a:solidFill>
                  <a:srgbClr val="505468"/>
                </a:solidFill>
                <a:latin typeface="+mj-lt"/>
                <a:ea typeface="Instrument Sans Semi Bold" pitchFamily="34" charset="-122"/>
                <a:cs typeface="Instrument Sans Semi Bold" pitchFamily="34" charset="-120"/>
              </a:rPr>
              <a:t>1.Code </a:t>
            </a:r>
            <a:r>
              <a:rPr lang="en-US" sz="3200" b="1" dirty="0">
                <a:solidFill>
                  <a:srgbClr val="505468"/>
                </a:solidFill>
                <a:latin typeface="+mj-lt"/>
                <a:ea typeface="Instrument Sans Semi Bold" pitchFamily="34" charset="-122"/>
                <a:cs typeface="Instrument Sans Semi Bold" pitchFamily="34" charset="-120"/>
              </a:rPr>
              <a:t>of Conduct and Values</a:t>
            </a:r>
            <a:endParaRPr lang="en-US" sz="3200" b="1" dirty="0">
              <a:latin typeface="+mj-lt"/>
            </a:endParaRPr>
          </a:p>
        </p:txBody>
      </p:sp>
      <p:sp>
        <p:nvSpPr>
          <p:cNvPr id="3" name="Text 1"/>
          <p:cNvSpPr/>
          <p:nvPr/>
        </p:nvSpPr>
        <p:spPr>
          <a:xfrm>
            <a:off x="572810" y="1105853"/>
            <a:ext cx="6585228" cy="618649"/>
          </a:xfrm>
          <a:prstGeom prst="rect">
            <a:avLst/>
          </a:prstGeom>
          <a:noFill/>
          <a:ln/>
        </p:spPr>
        <p:txBody>
          <a:bodyPr wrap="square" lIns="0" tIns="0" rIns="0" bIns="0" rtlCol="0" anchor="t"/>
          <a:lstStyle/>
          <a:p>
            <a:pPr marL="0" indent="0" algn="l">
              <a:buNone/>
            </a:pPr>
            <a:r>
              <a:rPr lang="en-US" dirty="0">
                <a:solidFill>
                  <a:srgbClr val="5B5F71"/>
                </a:solidFill>
                <a:ea typeface="Instrument Sans Medium" pitchFamily="34" charset="-122"/>
                <a:cs typeface="Instrument Sans Medium" pitchFamily="34" charset="-120"/>
              </a:rPr>
              <a:t>Microsoft's ethical foundation is anchored in a robust Code of Conduct and a clear set of values: integrity, accountability, and respect. These principles guide every aspect of the company's operations, from product development to customer interactions.</a:t>
            </a:r>
            <a:endParaRPr lang="en-US" dirty="0"/>
          </a:p>
        </p:txBody>
      </p:sp>
      <p:sp>
        <p:nvSpPr>
          <p:cNvPr id="4" name="Text 2"/>
          <p:cNvSpPr/>
          <p:nvPr/>
        </p:nvSpPr>
        <p:spPr>
          <a:xfrm>
            <a:off x="572810" y="2398705"/>
            <a:ext cx="6585228" cy="618649"/>
          </a:xfrm>
          <a:prstGeom prst="rect">
            <a:avLst/>
          </a:prstGeom>
          <a:noFill/>
          <a:ln/>
        </p:spPr>
        <p:txBody>
          <a:bodyPr wrap="square" lIns="0" tIns="0" rIns="0" bIns="0" rtlCol="0" anchor="t"/>
          <a:lstStyle/>
          <a:p>
            <a:pPr marL="0" indent="0" algn="l">
              <a:buNone/>
            </a:pPr>
            <a:r>
              <a:rPr lang="en-US" dirty="0">
                <a:solidFill>
                  <a:srgbClr val="5B5F71"/>
                </a:solidFill>
                <a:ea typeface="Instrument Sans Medium" pitchFamily="34" charset="-122"/>
                <a:cs typeface="Instrument Sans Medium" pitchFamily="34" charset="-120"/>
              </a:rPr>
              <a:t>The Standards of Business Conduct (SBC) provide detailed guidelines, ensuring employees understand their responsibilities and expected behaviors. Compliance is reinforced through mandatory, regular ethics training for all employees, fostering a culture where ethical considerations are paramount in decision-making.</a:t>
            </a:r>
            <a:endParaRPr lang="en-US" dirty="0"/>
          </a:p>
        </p:txBody>
      </p:sp>
      <p:pic>
        <p:nvPicPr>
          <p:cNvPr id="5" name="Image 0" descr="preencoded.png"/>
          <p:cNvPicPr>
            <a:picLocks noChangeAspect="1"/>
          </p:cNvPicPr>
          <p:nvPr/>
        </p:nvPicPr>
        <p:blipFill>
          <a:blip r:embed="rId3"/>
          <a:stretch>
            <a:fillRect/>
          </a:stretch>
        </p:blipFill>
        <p:spPr>
          <a:xfrm>
            <a:off x="7479983" y="1134785"/>
            <a:ext cx="6585228" cy="4505682"/>
          </a:xfrm>
          <a:prstGeom prst="rect">
            <a:avLst/>
          </a:prstGeom>
        </p:spPr>
      </p:pic>
      <p:sp>
        <p:nvSpPr>
          <p:cNvPr id="6" name="Shape 3"/>
          <p:cNvSpPr/>
          <p:nvPr/>
        </p:nvSpPr>
        <p:spPr>
          <a:xfrm>
            <a:off x="572810" y="4027778"/>
            <a:ext cx="6585228" cy="809268"/>
          </a:xfrm>
          <a:prstGeom prst="roundRect">
            <a:avLst>
              <a:gd name="adj" fmla="val 6690"/>
            </a:avLst>
          </a:prstGeom>
          <a:solidFill>
            <a:srgbClr val="E2E3E9"/>
          </a:solidFill>
          <a:ln w="7620">
            <a:solidFill>
              <a:srgbClr val="C8C9CF"/>
            </a:solidFill>
            <a:prstDash val="solid"/>
          </a:ln>
        </p:spPr>
      </p:sp>
      <p:sp>
        <p:nvSpPr>
          <p:cNvPr id="7" name="Text 4"/>
          <p:cNvSpPr/>
          <p:nvPr/>
        </p:nvSpPr>
        <p:spPr>
          <a:xfrm>
            <a:off x="709255" y="4164224"/>
            <a:ext cx="1611273" cy="201335"/>
          </a:xfrm>
          <a:prstGeom prst="rect">
            <a:avLst/>
          </a:prstGeom>
          <a:noFill/>
          <a:ln/>
        </p:spPr>
        <p:txBody>
          <a:bodyPr wrap="none" lIns="0" tIns="0" rIns="0" bIns="0" rtlCol="0" anchor="t"/>
          <a:lstStyle/>
          <a:p>
            <a:pPr marL="0" indent="0" algn="l">
              <a:lnSpc>
                <a:spcPts val="1550"/>
              </a:lnSpc>
              <a:buNone/>
            </a:pPr>
            <a:r>
              <a:rPr lang="en-US" sz="2400" dirty="0">
                <a:solidFill>
                  <a:srgbClr val="5B5F71"/>
                </a:solidFill>
                <a:ea typeface="Instrument Sans Semi Bold" pitchFamily="34" charset="-122"/>
                <a:cs typeface="Instrument Sans Semi Bold" pitchFamily="34" charset="-120"/>
              </a:rPr>
              <a:t>Integrity</a:t>
            </a:r>
            <a:endParaRPr lang="en-US" sz="2400" dirty="0"/>
          </a:p>
        </p:txBody>
      </p:sp>
      <p:sp>
        <p:nvSpPr>
          <p:cNvPr id="8" name="Text 5"/>
          <p:cNvSpPr/>
          <p:nvPr/>
        </p:nvSpPr>
        <p:spPr>
          <a:xfrm>
            <a:off x="709255" y="4494384"/>
            <a:ext cx="6312337" cy="206216"/>
          </a:xfrm>
          <a:prstGeom prst="rect">
            <a:avLst/>
          </a:prstGeom>
          <a:noFill/>
          <a:ln/>
        </p:spPr>
        <p:txBody>
          <a:bodyPr wrap="none" lIns="0" tIns="0" rIns="0" bIns="0" rtlCol="0" anchor="t"/>
          <a:lstStyle/>
          <a:p>
            <a:pPr marL="0" indent="0" algn="l">
              <a:lnSpc>
                <a:spcPts val="1600"/>
              </a:lnSpc>
              <a:buNone/>
            </a:pPr>
            <a:r>
              <a:rPr lang="en-US" dirty="0">
                <a:solidFill>
                  <a:srgbClr val="5B5F71"/>
                </a:solidFill>
                <a:ea typeface="Instrument Sans Medium" pitchFamily="34" charset="-122"/>
                <a:cs typeface="Instrument Sans Medium" pitchFamily="34" charset="-120"/>
              </a:rPr>
              <a:t>Acting honestly and transparently.</a:t>
            </a:r>
            <a:endParaRPr lang="en-US" dirty="0"/>
          </a:p>
        </p:txBody>
      </p:sp>
      <p:sp>
        <p:nvSpPr>
          <p:cNvPr id="9" name="Shape 6"/>
          <p:cNvSpPr/>
          <p:nvPr/>
        </p:nvSpPr>
        <p:spPr>
          <a:xfrm>
            <a:off x="572810" y="5248301"/>
            <a:ext cx="6585228" cy="809268"/>
          </a:xfrm>
          <a:prstGeom prst="roundRect">
            <a:avLst>
              <a:gd name="adj" fmla="val 6690"/>
            </a:avLst>
          </a:prstGeom>
          <a:solidFill>
            <a:srgbClr val="E2E3E9"/>
          </a:solidFill>
          <a:ln w="7620">
            <a:solidFill>
              <a:srgbClr val="C8C9CF"/>
            </a:solidFill>
            <a:prstDash val="solid"/>
          </a:ln>
        </p:spPr>
      </p:sp>
      <p:sp>
        <p:nvSpPr>
          <p:cNvPr id="10" name="Text 7"/>
          <p:cNvSpPr/>
          <p:nvPr/>
        </p:nvSpPr>
        <p:spPr>
          <a:xfrm>
            <a:off x="709255" y="5384747"/>
            <a:ext cx="1611273" cy="201335"/>
          </a:xfrm>
          <a:prstGeom prst="rect">
            <a:avLst/>
          </a:prstGeom>
          <a:noFill/>
          <a:ln/>
        </p:spPr>
        <p:txBody>
          <a:bodyPr wrap="none" lIns="0" tIns="0" rIns="0" bIns="0" rtlCol="0" anchor="t"/>
          <a:lstStyle/>
          <a:p>
            <a:pPr marL="0" indent="0" algn="l">
              <a:lnSpc>
                <a:spcPts val="1550"/>
              </a:lnSpc>
              <a:buNone/>
            </a:pPr>
            <a:r>
              <a:rPr lang="en-US" sz="2400" dirty="0">
                <a:solidFill>
                  <a:srgbClr val="5B5F71"/>
                </a:solidFill>
                <a:ea typeface="Instrument Sans Semi Bold" pitchFamily="34" charset="-122"/>
                <a:cs typeface="Instrument Sans Semi Bold" pitchFamily="34" charset="-120"/>
              </a:rPr>
              <a:t>Accountability</a:t>
            </a:r>
            <a:endParaRPr lang="en-US" sz="2400" dirty="0"/>
          </a:p>
        </p:txBody>
      </p:sp>
      <p:sp>
        <p:nvSpPr>
          <p:cNvPr id="11" name="Text 8"/>
          <p:cNvSpPr/>
          <p:nvPr/>
        </p:nvSpPr>
        <p:spPr>
          <a:xfrm>
            <a:off x="709255" y="5714907"/>
            <a:ext cx="6312337" cy="206216"/>
          </a:xfrm>
          <a:prstGeom prst="rect">
            <a:avLst/>
          </a:prstGeom>
          <a:noFill/>
          <a:ln/>
        </p:spPr>
        <p:txBody>
          <a:bodyPr wrap="none" lIns="0" tIns="0" rIns="0" bIns="0" rtlCol="0" anchor="t"/>
          <a:lstStyle/>
          <a:p>
            <a:pPr marL="0" indent="0" algn="l">
              <a:lnSpc>
                <a:spcPts val="1600"/>
              </a:lnSpc>
              <a:buNone/>
            </a:pPr>
            <a:r>
              <a:rPr lang="en-US" dirty="0">
                <a:solidFill>
                  <a:srgbClr val="5B5F71"/>
                </a:solidFill>
                <a:ea typeface="Instrument Sans Medium" pitchFamily="34" charset="-122"/>
                <a:cs typeface="Instrument Sans Medium" pitchFamily="34" charset="-120"/>
              </a:rPr>
              <a:t>Taking responsibility for actions.</a:t>
            </a:r>
            <a:endParaRPr lang="en-US" dirty="0"/>
          </a:p>
        </p:txBody>
      </p:sp>
      <p:sp>
        <p:nvSpPr>
          <p:cNvPr id="12" name="Shape 9"/>
          <p:cNvSpPr/>
          <p:nvPr/>
        </p:nvSpPr>
        <p:spPr>
          <a:xfrm>
            <a:off x="572810" y="6323432"/>
            <a:ext cx="6585228" cy="809268"/>
          </a:xfrm>
          <a:prstGeom prst="roundRect">
            <a:avLst>
              <a:gd name="adj" fmla="val 6690"/>
            </a:avLst>
          </a:prstGeom>
          <a:solidFill>
            <a:srgbClr val="E2E3E9"/>
          </a:solidFill>
          <a:ln w="7620">
            <a:solidFill>
              <a:srgbClr val="C8C9CF"/>
            </a:solidFill>
            <a:prstDash val="solid"/>
          </a:ln>
        </p:spPr>
      </p:sp>
      <p:sp>
        <p:nvSpPr>
          <p:cNvPr id="13" name="Text 10"/>
          <p:cNvSpPr/>
          <p:nvPr/>
        </p:nvSpPr>
        <p:spPr>
          <a:xfrm>
            <a:off x="709255" y="6522626"/>
            <a:ext cx="1611273" cy="201335"/>
          </a:xfrm>
          <a:prstGeom prst="rect">
            <a:avLst/>
          </a:prstGeom>
          <a:noFill/>
          <a:ln/>
        </p:spPr>
        <p:txBody>
          <a:bodyPr wrap="none" lIns="0" tIns="0" rIns="0" bIns="0" rtlCol="0" anchor="t"/>
          <a:lstStyle/>
          <a:p>
            <a:pPr marL="0" indent="0" algn="l">
              <a:lnSpc>
                <a:spcPts val="1550"/>
              </a:lnSpc>
              <a:buNone/>
            </a:pPr>
            <a:r>
              <a:rPr lang="en-US" sz="2400" dirty="0">
                <a:solidFill>
                  <a:srgbClr val="5B5F71"/>
                </a:solidFill>
                <a:ea typeface="Instrument Sans Semi Bold" pitchFamily="34" charset="-122"/>
                <a:cs typeface="Instrument Sans Semi Bold" pitchFamily="34" charset="-120"/>
              </a:rPr>
              <a:t>Respect</a:t>
            </a:r>
            <a:endParaRPr lang="en-US" sz="2400" dirty="0"/>
          </a:p>
        </p:txBody>
      </p:sp>
      <p:sp>
        <p:nvSpPr>
          <p:cNvPr id="14" name="Text 11"/>
          <p:cNvSpPr/>
          <p:nvPr/>
        </p:nvSpPr>
        <p:spPr>
          <a:xfrm>
            <a:off x="709255" y="6889467"/>
            <a:ext cx="6312337" cy="206216"/>
          </a:xfrm>
          <a:prstGeom prst="rect">
            <a:avLst/>
          </a:prstGeom>
          <a:noFill/>
          <a:ln/>
        </p:spPr>
        <p:txBody>
          <a:bodyPr wrap="none" lIns="0" tIns="0" rIns="0" bIns="0" rtlCol="0" anchor="t"/>
          <a:lstStyle/>
          <a:p>
            <a:pPr marL="0" indent="0" algn="l">
              <a:lnSpc>
                <a:spcPts val="1600"/>
              </a:lnSpc>
              <a:buNone/>
            </a:pPr>
            <a:r>
              <a:rPr lang="en-US" dirty="0">
                <a:solidFill>
                  <a:srgbClr val="5B5F71"/>
                </a:solidFill>
                <a:ea typeface="Instrument Sans Medium" pitchFamily="34" charset="-122"/>
                <a:cs typeface="Instrument Sans Medium" pitchFamily="34" charset="-120"/>
              </a:rPr>
              <a:t>Treating others with dignity.</a:t>
            </a:r>
            <a:endParaRPr lang="en-US" dirty="0"/>
          </a:p>
        </p:txBody>
      </p:sp>
      <p:sp>
        <p:nvSpPr>
          <p:cNvPr id="15" name="Rectangle 14"/>
          <p:cNvSpPr/>
          <p:nvPr/>
        </p:nvSpPr>
        <p:spPr>
          <a:xfrm>
            <a:off x="12181668" y="7584399"/>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82335"/>
            <a:ext cx="9472732" cy="620078"/>
          </a:xfrm>
          <a:prstGeom prst="rect">
            <a:avLst/>
          </a:prstGeom>
          <a:noFill/>
          <a:ln/>
        </p:spPr>
        <p:txBody>
          <a:bodyPr wrap="none" lIns="0" tIns="0" rIns="0" bIns="0" rtlCol="0" anchor="t"/>
          <a:lstStyle/>
          <a:p>
            <a:pPr marL="0" indent="0" algn="l">
              <a:lnSpc>
                <a:spcPts val="4850"/>
              </a:lnSpc>
              <a:buNone/>
            </a:pPr>
            <a:r>
              <a:rPr lang="en-US" sz="3200" b="1" dirty="0" smtClean="0">
                <a:solidFill>
                  <a:srgbClr val="505468"/>
                </a:solidFill>
                <a:latin typeface="+mj-lt"/>
                <a:ea typeface="Instrument Sans Semi Bold" pitchFamily="34" charset="-122"/>
                <a:cs typeface="Instrument Sans Semi Bold" pitchFamily="34" charset="-120"/>
              </a:rPr>
              <a:t>2.Privacy</a:t>
            </a:r>
            <a:r>
              <a:rPr lang="en-US" sz="3200" b="1" dirty="0">
                <a:solidFill>
                  <a:srgbClr val="505468"/>
                </a:solidFill>
                <a:latin typeface="+mj-lt"/>
                <a:ea typeface="Instrument Sans Semi Bold" pitchFamily="34" charset="-122"/>
                <a:cs typeface="Instrument Sans Semi Bold" pitchFamily="34" charset="-120"/>
              </a:rPr>
              <a:t>, Data Protection &amp; Cybersecurity</a:t>
            </a:r>
            <a:endParaRPr lang="en-US" sz="3200" b="1" dirty="0">
              <a:latin typeface="+mj-lt"/>
            </a:endParaRPr>
          </a:p>
        </p:txBody>
      </p:sp>
      <p:sp>
        <p:nvSpPr>
          <p:cNvPr id="3" name="Text 1"/>
          <p:cNvSpPr/>
          <p:nvPr/>
        </p:nvSpPr>
        <p:spPr>
          <a:xfrm>
            <a:off x="793790" y="1599248"/>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In an era of increasing digital interconnectedness, Microsoft places a high premium on privacy, data protection, and cybersecurity. The company adheres to global regulations such as GDPR and CCPA, demonstrating a commitment to user rights.</a:t>
            </a:r>
            <a:endParaRPr lang="en-US" dirty="0"/>
          </a:p>
        </p:txBody>
      </p:sp>
      <p:sp>
        <p:nvSpPr>
          <p:cNvPr id="4" name="Text 2"/>
          <p:cNvSpPr/>
          <p:nvPr/>
        </p:nvSpPr>
        <p:spPr>
          <a:xfrm>
            <a:off x="793790" y="2528395"/>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b="1" dirty="0">
                <a:solidFill>
                  <a:srgbClr val="5B5F71"/>
                </a:solidFill>
                <a:ea typeface="Instrument Sans Medium" pitchFamily="34" charset="-122"/>
                <a:cs typeface="Instrument Sans Medium" pitchFamily="34" charset="-120"/>
              </a:rPr>
              <a:t>GDPR, CCPA compliance:</a:t>
            </a:r>
            <a:r>
              <a:rPr lang="en-US" dirty="0">
                <a:solidFill>
                  <a:srgbClr val="5B5F71"/>
                </a:solidFill>
                <a:ea typeface="Instrument Sans Medium" pitchFamily="34" charset="-122"/>
                <a:cs typeface="Instrument Sans Medium" pitchFamily="34" charset="-120"/>
              </a:rPr>
              <a:t> Adherence to leading global data protection regulations, ensuring user rights are upheld.</a:t>
            </a:r>
            <a:endParaRPr lang="en-US" dirty="0"/>
          </a:p>
        </p:txBody>
      </p:sp>
      <p:sp>
        <p:nvSpPr>
          <p:cNvPr id="5" name="Text 3"/>
          <p:cNvSpPr/>
          <p:nvPr/>
        </p:nvSpPr>
        <p:spPr>
          <a:xfrm>
            <a:off x="793790" y="3340656"/>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b="1" dirty="0">
                <a:solidFill>
                  <a:srgbClr val="5B5F71"/>
                </a:solidFill>
                <a:ea typeface="Instrument Sans Medium" pitchFamily="34" charset="-122"/>
                <a:cs typeface="Instrument Sans Medium" pitchFamily="34" charset="-120"/>
              </a:rPr>
              <a:t>Microsoft Privacy Dashboard:</a:t>
            </a:r>
            <a:r>
              <a:rPr lang="en-US" dirty="0">
                <a:solidFill>
                  <a:srgbClr val="5B5F71"/>
                </a:solidFill>
                <a:ea typeface="Instrument Sans Medium" pitchFamily="34" charset="-122"/>
                <a:cs typeface="Instrument Sans Medium" pitchFamily="34" charset="-120"/>
              </a:rPr>
              <a:t> A centralized portal allowing users to manage their data and privacy settings transparently.</a:t>
            </a:r>
            <a:endParaRPr lang="en-US" dirty="0"/>
          </a:p>
        </p:txBody>
      </p:sp>
      <p:sp>
        <p:nvSpPr>
          <p:cNvPr id="6" name="Text 4"/>
          <p:cNvSpPr/>
          <p:nvPr/>
        </p:nvSpPr>
        <p:spPr>
          <a:xfrm>
            <a:off x="793790" y="4152917"/>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b="1" dirty="0">
                <a:solidFill>
                  <a:srgbClr val="5B5F71"/>
                </a:solidFill>
                <a:ea typeface="Instrument Sans Medium" pitchFamily="34" charset="-122"/>
                <a:cs typeface="Instrument Sans Medium" pitchFamily="34" charset="-120"/>
              </a:rPr>
              <a:t>Azure Security, Microsoft Defender:</a:t>
            </a:r>
            <a:r>
              <a:rPr lang="en-US" dirty="0">
                <a:solidFill>
                  <a:srgbClr val="5B5F71"/>
                </a:solidFill>
                <a:ea typeface="Instrument Sans Medium" pitchFamily="34" charset="-122"/>
                <a:cs typeface="Instrument Sans Medium" pitchFamily="34" charset="-120"/>
              </a:rPr>
              <a:t> Robust security measures embedded in cloud services and endpoint protection to safeguard against cyber threats.</a:t>
            </a:r>
            <a:endParaRPr lang="en-US" dirty="0"/>
          </a:p>
        </p:txBody>
      </p:sp>
      <p:sp>
        <p:nvSpPr>
          <p:cNvPr id="7" name="Text 5"/>
          <p:cNvSpPr/>
          <p:nvPr/>
        </p:nvSpPr>
        <p:spPr>
          <a:xfrm>
            <a:off x="793790" y="530858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b="1" dirty="0">
                <a:solidFill>
                  <a:srgbClr val="5B5F71"/>
                </a:solidFill>
                <a:ea typeface="Instrument Sans Medium" pitchFamily="34" charset="-122"/>
                <a:cs typeface="Instrument Sans Medium" pitchFamily="34" charset="-120"/>
              </a:rPr>
              <a:t>Transparency through reports:</a:t>
            </a:r>
            <a:r>
              <a:rPr lang="en-US" dirty="0">
                <a:solidFill>
                  <a:srgbClr val="5B5F71"/>
                </a:solidFill>
                <a:ea typeface="Instrument Sans Medium" pitchFamily="34" charset="-122"/>
                <a:cs typeface="Instrument Sans Medium" pitchFamily="34" charset="-120"/>
              </a:rPr>
              <a:t> Regular publication of reports detailing data requests from governments and other entities.</a:t>
            </a:r>
            <a:endParaRPr lang="en-US" dirty="0"/>
          </a:p>
        </p:txBody>
      </p:sp>
      <p:sp>
        <p:nvSpPr>
          <p:cNvPr id="8" name="Text 6"/>
          <p:cNvSpPr/>
          <p:nvPr/>
        </p:nvSpPr>
        <p:spPr>
          <a:xfrm>
            <a:off x="793790" y="6254487"/>
            <a:ext cx="6279356" cy="1587698"/>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The Microsoft Privacy Dashboard empowers users with control over their data, while robust security measures like Azure Security and Microsoft Defender protect against cyber threats. Transparency reports further underscore Microsoft's dedication to open practices in data handling.</a:t>
            </a:r>
            <a:endParaRPr lang="en-US" dirty="0"/>
          </a:p>
        </p:txBody>
      </p:sp>
      <p:pic>
        <p:nvPicPr>
          <p:cNvPr id="9" name="Image 0" descr="preencoded.png"/>
          <p:cNvPicPr>
            <a:picLocks noChangeAspect="1"/>
          </p:cNvPicPr>
          <p:nvPr/>
        </p:nvPicPr>
        <p:blipFill>
          <a:blip r:embed="rId3"/>
          <a:stretch>
            <a:fillRect/>
          </a:stretch>
        </p:blipFill>
        <p:spPr>
          <a:xfrm>
            <a:off x="7564874" y="2680811"/>
            <a:ext cx="6279356" cy="4296370"/>
          </a:xfrm>
          <a:prstGeom prst="rect">
            <a:avLst/>
          </a:prstGeom>
        </p:spPr>
      </p:pic>
      <p:sp>
        <p:nvSpPr>
          <p:cNvPr id="10" name="Rectangle 9"/>
          <p:cNvSpPr/>
          <p:nvPr/>
        </p:nvSpPr>
        <p:spPr>
          <a:xfrm>
            <a:off x="12181668" y="7584399"/>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5989" y="566387"/>
            <a:ext cx="7072908" cy="620078"/>
          </a:xfrm>
          <a:prstGeom prst="rect">
            <a:avLst/>
          </a:prstGeom>
          <a:noFill/>
          <a:ln/>
        </p:spPr>
        <p:txBody>
          <a:bodyPr wrap="none" lIns="0" tIns="0" rIns="0" bIns="0" rtlCol="0" anchor="t"/>
          <a:lstStyle/>
          <a:p>
            <a:pPr marL="0" indent="0" algn="l">
              <a:lnSpc>
                <a:spcPts val="4850"/>
              </a:lnSpc>
              <a:buNone/>
            </a:pPr>
            <a:r>
              <a:rPr lang="en-US" sz="3200" b="1" dirty="0" smtClean="0">
                <a:solidFill>
                  <a:srgbClr val="505468"/>
                </a:solidFill>
                <a:latin typeface="+mj-lt"/>
                <a:ea typeface="Instrument Sans Semi Bold" pitchFamily="34" charset="-122"/>
                <a:cs typeface="Instrument Sans Semi Bold" pitchFamily="34" charset="-120"/>
              </a:rPr>
              <a:t>3.Intellectual </a:t>
            </a:r>
            <a:r>
              <a:rPr lang="en-US" sz="3200" b="1" dirty="0">
                <a:solidFill>
                  <a:srgbClr val="505468"/>
                </a:solidFill>
                <a:latin typeface="+mj-lt"/>
                <a:ea typeface="Instrument Sans Semi Bold" pitchFamily="34" charset="-122"/>
                <a:cs typeface="Instrument Sans Semi Bold" pitchFamily="34" charset="-120"/>
              </a:rPr>
              <a:t>Property Practices</a:t>
            </a:r>
            <a:endParaRPr lang="en-US" sz="3200" b="1" dirty="0">
              <a:latin typeface="+mj-lt"/>
            </a:endParaRPr>
          </a:p>
        </p:txBody>
      </p:sp>
      <p:sp>
        <p:nvSpPr>
          <p:cNvPr id="3" name="Text 1"/>
          <p:cNvSpPr/>
          <p:nvPr/>
        </p:nvSpPr>
        <p:spPr>
          <a:xfrm>
            <a:off x="775989" y="1708614"/>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Microsoft's approach to intellectual property balances robust protection of its innovations with a commitment to fostering technological advancement. This dual strategy ensures the company's proprietary assets are secure while also contributing to the broader tech ecosystem.</a:t>
            </a:r>
            <a:endParaRPr lang="en-US" dirty="0"/>
          </a:p>
        </p:txBody>
      </p:sp>
      <p:pic>
        <p:nvPicPr>
          <p:cNvPr id="4" name="Image 0" descr="preencoded.png"/>
          <p:cNvPicPr>
            <a:picLocks noChangeAspect="1"/>
          </p:cNvPicPr>
          <p:nvPr/>
        </p:nvPicPr>
        <p:blipFill>
          <a:blip r:embed="rId3"/>
          <a:stretch>
            <a:fillRect/>
          </a:stretch>
        </p:blipFill>
        <p:spPr>
          <a:xfrm>
            <a:off x="775989" y="3109971"/>
            <a:ext cx="496133" cy="496133"/>
          </a:xfrm>
          <a:prstGeom prst="rect">
            <a:avLst/>
          </a:prstGeom>
        </p:spPr>
      </p:pic>
      <p:sp>
        <p:nvSpPr>
          <p:cNvPr id="5" name="Text 2"/>
          <p:cNvSpPr/>
          <p:nvPr/>
        </p:nvSpPr>
        <p:spPr>
          <a:xfrm>
            <a:off x="775989" y="3854112"/>
            <a:ext cx="2480905" cy="310158"/>
          </a:xfrm>
          <a:prstGeom prst="rect">
            <a:avLst/>
          </a:prstGeom>
          <a:noFill/>
          <a:ln/>
        </p:spPr>
        <p:txBody>
          <a:bodyPr wrap="none" lIns="0" tIns="0" rIns="0" bIns="0" rtlCol="0" anchor="t"/>
          <a:lstStyle/>
          <a:p>
            <a:pPr marL="0" indent="0" algn="l">
              <a:lnSpc>
                <a:spcPts val="2400"/>
              </a:lnSpc>
              <a:buNone/>
            </a:pPr>
            <a:r>
              <a:rPr lang="en-US" dirty="0">
                <a:solidFill>
                  <a:srgbClr val="5B5F71"/>
                </a:solidFill>
                <a:ea typeface="Instrument Sans Semi Bold" pitchFamily="34" charset="-122"/>
                <a:cs typeface="Instrument Sans Semi Bold" pitchFamily="34" charset="-120"/>
              </a:rPr>
              <a:t>Strong Protections</a:t>
            </a:r>
            <a:endParaRPr lang="en-US" dirty="0"/>
          </a:p>
        </p:txBody>
      </p:sp>
      <p:sp>
        <p:nvSpPr>
          <p:cNvPr id="6" name="Text 3"/>
          <p:cNvSpPr/>
          <p:nvPr/>
        </p:nvSpPr>
        <p:spPr>
          <a:xfrm>
            <a:off x="793790" y="4686419"/>
            <a:ext cx="4182189" cy="1587698"/>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Microsoft maintains a vast portfolio of patents and copyrights to protect its software, hardware, and innovative technologies, safeguarding its research and development investments globally.</a:t>
            </a:r>
            <a:endParaRPr lang="en-US" dirty="0"/>
          </a:p>
        </p:txBody>
      </p:sp>
      <p:pic>
        <p:nvPicPr>
          <p:cNvPr id="7" name="Image 1" descr="preencoded.png"/>
          <p:cNvPicPr>
            <a:picLocks noChangeAspect="1"/>
          </p:cNvPicPr>
          <p:nvPr/>
        </p:nvPicPr>
        <p:blipFill>
          <a:blip r:embed="rId4"/>
          <a:stretch>
            <a:fillRect/>
          </a:stretch>
        </p:blipFill>
        <p:spPr>
          <a:xfrm>
            <a:off x="5223986" y="3109971"/>
            <a:ext cx="496133" cy="496133"/>
          </a:xfrm>
          <a:prstGeom prst="rect">
            <a:avLst/>
          </a:prstGeom>
        </p:spPr>
      </p:pic>
      <p:sp>
        <p:nvSpPr>
          <p:cNvPr id="8" name="Text 4"/>
          <p:cNvSpPr/>
          <p:nvPr/>
        </p:nvSpPr>
        <p:spPr>
          <a:xfrm>
            <a:off x="5223986" y="3854112"/>
            <a:ext cx="2502218" cy="310158"/>
          </a:xfrm>
          <a:prstGeom prst="rect">
            <a:avLst/>
          </a:prstGeom>
          <a:noFill/>
          <a:ln/>
        </p:spPr>
        <p:txBody>
          <a:bodyPr wrap="none" lIns="0" tIns="0" rIns="0" bIns="0" rtlCol="0" anchor="t"/>
          <a:lstStyle/>
          <a:p>
            <a:pPr marL="0" indent="0" algn="l">
              <a:lnSpc>
                <a:spcPts val="2400"/>
              </a:lnSpc>
              <a:buNone/>
            </a:pPr>
            <a:r>
              <a:rPr lang="en-US" dirty="0">
                <a:solidFill>
                  <a:srgbClr val="5B5F71"/>
                </a:solidFill>
                <a:ea typeface="Instrument Sans Semi Bold" pitchFamily="34" charset="-122"/>
                <a:cs typeface="Instrument Sans Semi Bold" pitchFamily="34" charset="-120"/>
              </a:rPr>
              <a:t>Anti-Piracy Initiatives</a:t>
            </a:r>
            <a:endParaRPr lang="en-US" dirty="0"/>
          </a:p>
        </p:txBody>
      </p:sp>
      <p:sp>
        <p:nvSpPr>
          <p:cNvPr id="9" name="Text 5"/>
          <p:cNvSpPr/>
          <p:nvPr/>
        </p:nvSpPr>
        <p:spPr>
          <a:xfrm>
            <a:off x="5223986" y="4686419"/>
            <a:ext cx="4182308" cy="1587698"/>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The company actively combats software piracy through legal action, educational campaigns, and technological safeguards, aiming to protect its intellectual property and ensure fair market competition.</a:t>
            </a:r>
            <a:endParaRPr lang="en-US" dirty="0"/>
          </a:p>
        </p:txBody>
      </p:sp>
      <p:pic>
        <p:nvPicPr>
          <p:cNvPr id="10" name="Image 2" descr="preencoded.png"/>
          <p:cNvPicPr>
            <a:picLocks noChangeAspect="1"/>
          </p:cNvPicPr>
          <p:nvPr/>
        </p:nvPicPr>
        <p:blipFill>
          <a:blip r:embed="rId5"/>
          <a:stretch>
            <a:fillRect/>
          </a:stretch>
        </p:blipFill>
        <p:spPr>
          <a:xfrm>
            <a:off x="9654302" y="3104909"/>
            <a:ext cx="496133" cy="496133"/>
          </a:xfrm>
          <a:prstGeom prst="rect">
            <a:avLst/>
          </a:prstGeom>
        </p:spPr>
      </p:pic>
      <p:sp>
        <p:nvSpPr>
          <p:cNvPr id="11" name="Text 6"/>
          <p:cNvSpPr/>
          <p:nvPr/>
        </p:nvSpPr>
        <p:spPr>
          <a:xfrm>
            <a:off x="9654302" y="3849050"/>
            <a:ext cx="2588538" cy="310158"/>
          </a:xfrm>
          <a:prstGeom prst="rect">
            <a:avLst/>
          </a:prstGeom>
          <a:noFill/>
          <a:ln/>
        </p:spPr>
        <p:txBody>
          <a:bodyPr wrap="none" lIns="0" tIns="0" rIns="0" bIns="0" rtlCol="0" anchor="t"/>
          <a:lstStyle/>
          <a:p>
            <a:pPr marL="0" indent="0" algn="l">
              <a:lnSpc>
                <a:spcPts val="2400"/>
              </a:lnSpc>
              <a:buNone/>
            </a:pPr>
            <a:r>
              <a:rPr lang="en-US" dirty="0">
                <a:solidFill>
                  <a:srgbClr val="5B5F71"/>
                </a:solidFill>
                <a:ea typeface="Instrument Sans Semi Bold" pitchFamily="34" charset="-122"/>
                <a:cs typeface="Instrument Sans Semi Bold" pitchFamily="34" charset="-120"/>
              </a:rPr>
              <a:t>Open-Source Support</a:t>
            </a:r>
            <a:endParaRPr lang="en-US" dirty="0"/>
          </a:p>
        </p:txBody>
      </p:sp>
      <p:sp>
        <p:nvSpPr>
          <p:cNvPr id="12" name="Text 7"/>
          <p:cNvSpPr/>
          <p:nvPr/>
        </p:nvSpPr>
        <p:spPr>
          <a:xfrm>
            <a:off x="9654302" y="4686419"/>
            <a:ext cx="4182308" cy="1905238"/>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Despite its proprietary roots, Microsoft has become a significant supporter of open-source projects, notably through its acquisition of GitHub. This demonstrates a commitment to community collaboration and shared innovation.</a:t>
            </a:r>
            <a:endParaRPr lang="en-US" dirty="0"/>
          </a:p>
        </p:txBody>
      </p:sp>
      <p:sp>
        <p:nvSpPr>
          <p:cNvPr id="13" name="Rectangle 12"/>
          <p:cNvSpPr/>
          <p:nvPr/>
        </p:nvSpPr>
        <p:spPr>
          <a:xfrm>
            <a:off x="12181668" y="7714028"/>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6157" y="471726"/>
            <a:ext cx="6294477" cy="536019"/>
          </a:xfrm>
          <a:prstGeom prst="rect">
            <a:avLst/>
          </a:prstGeom>
          <a:noFill/>
          <a:ln/>
        </p:spPr>
        <p:txBody>
          <a:bodyPr wrap="none" lIns="0" tIns="0" rIns="0" bIns="0" rtlCol="0" anchor="t"/>
          <a:lstStyle/>
          <a:p>
            <a:pPr marL="0" indent="0" algn="l">
              <a:lnSpc>
                <a:spcPts val="4200"/>
              </a:lnSpc>
              <a:buNone/>
            </a:pPr>
            <a:r>
              <a:rPr lang="en-US" sz="3200" b="1" dirty="0" smtClean="0">
                <a:solidFill>
                  <a:srgbClr val="505468"/>
                </a:solidFill>
                <a:latin typeface="+mj-lt"/>
                <a:ea typeface="Instrument Sans Semi Bold" pitchFamily="34" charset="-122"/>
                <a:cs typeface="Instrument Sans Semi Bold" pitchFamily="34" charset="-120"/>
              </a:rPr>
              <a:t>4.Corporate </a:t>
            </a:r>
            <a:r>
              <a:rPr lang="en-US" sz="3200" b="1" dirty="0">
                <a:solidFill>
                  <a:srgbClr val="505468"/>
                </a:solidFill>
                <a:latin typeface="+mj-lt"/>
                <a:ea typeface="Instrument Sans Semi Bold" pitchFamily="34" charset="-122"/>
                <a:cs typeface="Instrument Sans Semi Bold" pitchFamily="34" charset="-120"/>
              </a:rPr>
              <a:t>Social Responsibility</a:t>
            </a:r>
            <a:endParaRPr lang="en-US" sz="3200" b="1" dirty="0">
              <a:latin typeface="+mj-lt"/>
            </a:endParaRPr>
          </a:p>
        </p:txBody>
      </p:sp>
      <p:sp>
        <p:nvSpPr>
          <p:cNvPr id="3" name="Text 1"/>
          <p:cNvSpPr/>
          <p:nvPr/>
        </p:nvSpPr>
        <p:spPr>
          <a:xfrm>
            <a:off x="686157" y="1350764"/>
            <a:ext cx="13258086" cy="548878"/>
          </a:xfrm>
          <a:prstGeom prst="rect">
            <a:avLst/>
          </a:prstGeom>
          <a:noFill/>
          <a:ln/>
        </p:spPr>
        <p:txBody>
          <a:bodyPr wrap="square" lIns="0" tIns="0" rIns="0" bIns="0" rtlCol="0" anchor="t"/>
          <a:lstStyle/>
          <a:p>
            <a:pPr marL="0" indent="0" algn="l">
              <a:lnSpc>
                <a:spcPts val="2150"/>
              </a:lnSpc>
              <a:buNone/>
            </a:pPr>
            <a:r>
              <a:rPr lang="en-US" dirty="0">
                <a:solidFill>
                  <a:srgbClr val="5B5F71"/>
                </a:solidFill>
                <a:ea typeface="Instrument Sans Medium" pitchFamily="34" charset="-122"/>
                <a:cs typeface="Instrument Sans Medium" pitchFamily="34" charset="-120"/>
              </a:rPr>
              <a:t>Microsoft's commitment to corporate social responsibility extends beyond its core business, aiming to create positive societal impact through various initiatives. This includes fostering digital literacy and supporting vulnerable communities worldwide.</a:t>
            </a:r>
            <a:endParaRPr lang="en-US" dirty="0"/>
          </a:p>
        </p:txBody>
      </p:sp>
      <p:sp>
        <p:nvSpPr>
          <p:cNvPr id="4" name="Text 2"/>
          <p:cNvSpPr/>
          <p:nvPr/>
        </p:nvSpPr>
        <p:spPr>
          <a:xfrm>
            <a:off x="686157" y="2094241"/>
            <a:ext cx="6419850" cy="823317"/>
          </a:xfrm>
          <a:prstGeom prst="rect">
            <a:avLst/>
          </a:prstGeom>
          <a:noFill/>
          <a:ln/>
        </p:spPr>
        <p:txBody>
          <a:bodyPr wrap="square" lIns="0" tIns="0" rIns="0" bIns="0" rtlCol="0" anchor="t"/>
          <a:lstStyle/>
          <a:p>
            <a:pPr marL="342900" indent="-342900" algn="l">
              <a:lnSpc>
                <a:spcPts val="2150"/>
              </a:lnSpc>
              <a:buSzPct val="100000"/>
              <a:buChar char="•"/>
            </a:pPr>
            <a:r>
              <a:rPr lang="en-US" b="1" dirty="0">
                <a:solidFill>
                  <a:srgbClr val="5B5F71"/>
                </a:solidFill>
                <a:ea typeface="Instrument Sans Medium" pitchFamily="34" charset="-122"/>
                <a:cs typeface="Instrument Sans Medium" pitchFamily="34" charset="-120"/>
              </a:rPr>
              <a:t>Digital skills and education initiatives:</a:t>
            </a:r>
            <a:r>
              <a:rPr lang="en-US" dirty="0">
                <a:solidFill>
                  <a:srgbClr val="5B5F71"/>
                </a:solidFill>
                <a:ea typeface="Instrument Sans Medium" pitchFamily="34" charset="-122"/>
                <a:cs typeface="Instrument Sans Medium" pitchFamily="34" charset="-120"/>
              </a:rPr>
              <a:t> Providing access to technology education for underserved communities globally, empowering individuals with essential digital literacy</a:t>
            </a:r>
            <a:r>
              <a:rPr lang="en-US" dirty="0" smtClean="0">
                <a:solidFill>
                  <a:srgbClr val="5B5F71"/>
                </a:solidFill>
                <a:ea typeface="Instrument Sans Medium" pitchFamily="34" charset="-122"/>
                <a:cs typeface="Instrument Sans Medium" pitchFamily="34" charset="-120"/>
              </a:rPr>
              <a:t>.</a:t>
            </a:r>
          </a:p>
          <a:p>
            <a:pPr marL="342900" indent="-342900" algn="l">
              <a:lnSpc>
                <a:spcPts val="2150"/>
              </a:lnSpc>
              <a:buSzPct val="100000"/>
              <a:buChar char="•"/>
            </a:pPr>
            <a:endParaRPr lang="en-US" dirty="0" smtClean="0">
              <a:solidFill>
                <a:srgbClr val="5B5F71"/>
              </a:solidFill>
              <a:ea typeface="Instrument Sans Medium" pitchFamily="34" charset="-122"/>
              <a:cs typeface="Instrument Sans Medium" pitchFamily="34" charset="-120"/>
            </a:endParaRPr>
          </a:p>
          <a:p>
            <a:pPr marL="342900" indent="-342900" algn="l">
              <a:lnSpc>
                <a:spcPts val="2150"/>
              </a:lnSpc>
              <a:buSzPct val="100000"/>
              <a:buChar char="•"/>
            </a:pPr>
            <a:endParaRPr lang="en-US" dirty="0">
              <a:solidFill>
                <a:srgbClr val="5B5F71"/>
              </a:solidFill>
            </a:endParaRPr>
          </a:p>
          <a:p>
            <a:pPr marL="342900" indent="-342900" algn="l">
              <a:lnSpc>
                <a:spcPts val="2150"/>
              </a:lnSpc>
              <a:buSzPct val="100000"/>
              <a:buChar char="•"/>
            </a:pPr>
            <a:endParaRPr lang="en-US" dirty="0"/>
          </a:p>
        </p:txBody>
      </p:sp>
      <p:sp>
        <p:nvSpPr>
          <p:cNvPr id="5" name="Text 3"/>
          <p:cNvSpPr/>
          <p:nvPr/>
        </p:nvSpPr>
        <p:spPr>
          <a:xfrm>
            <a:off x="686157" y="3109155"/>
            <a:ext cx="6419850" cy="823317"/>
          </a:xfrm>
          <a:prstGeom prst="rect">
            <a:avLst/>
          </a:prstGeom>
          <a:noFill/>
          <a:ln/>
        </p:spPr>
        <p:txBody>
          <a:bodyPr wrap="square" lIns="0" tIns="0" rIns="0" bIns="0" rtlCol="0" anchor="t"/>
          <a:lstStyle/>
          <a:p>
            <a:pPr marL="342900" indent="-342900" algn="l">
              <a:lnSpc>
                <a:spcPts val="2150"/>
              </a:lnSpc>
              <a:buSzPct val="100000"/>
              <a:buChar char="•"/>
            </a:pPr>
            <a:r>
              <a:rPr lang="en-US" b="1" dirty="0">
                <a:solidFill>
                  <a:srgbClr val="5B5F71"/>
                </a:solidFill>
                <a:ea typeface="Instrument Sans Medium" pitchFamily="34" charset="-122"/>
                <a:cs typeface="Instrument Sans Medium" pitchFamily="34" charset="-120"/>
              </a:rPr>
              <a:t>Microsoft Philanthropies:</a:t>
            </a:r>
            <a:r>
              <a:rPr lang="en-US" dirty="0">
                <a:solidFill>
                  <a:srgbClr val="5B5F71"/>
                </a:solidFill>
                <a:ea typeface="Instrument Sans Medium" pitchFamily="34" charset="-122"/>
                <a:cs typeface="Instrument Sans Medium" pitchFamily="34" charset="-120"/>
              </a:rPr>
              <a:t> The dedicated arm of Microsoft that focuses on social impact, investing in non-profits and supporting various humanitarian efforts.</a:t>
            </a:r>
            <a:endParaRPr lang="en-US" dirty="0"/>
          </a:p>
        </p:txBody>
      </p:sp>
      <p:sp>
        <p:nvSpPr>
          <p:cNvPr id="6" name="Text 4"/>
          <p:cNvSpPr/>
          <p:nvPr/>
        </p:nvSpPr>
        <p:spPr>
          <a:xfrm>
            <a:off x="686157" y="4225554"/>
            <a:ext cx="6419850" cy="823317"/>
          </a:xfrm>
          <a:prstGeom prst="rect">
            <a:avLst/>
          </a:prstGeom>
          <a:noFill/>
          <a:ln/>
        </p:spPr>
        <p:txBody>
          <a:bodyPr wrap="square" lIns="0" tIns="0" rIns="0" bIns="0" rtlCol="0" anchor="t"/>
          <a:lstStyle/>
          <a:p>
            <a:pPr marL="342900" indent="-342900" algn="l">
              <a:lnSpc>
                <a:spcPts val="2150"/>
              </a:lnSpc>
              <a:buSzPct val="100000"/>
              <a:buChar char="•"/>
            </a:pPr>
            <a:r>
              <a:rPr lang="en-US" b="1" dirty="0">
                <a:solidFill>
                  <a:srgbClr val="5B5F71"/>
                </a:solidFill>
                <a:ea typeface="Instrument Sans Medium" pitchFamily="34" charset="-122"/>
                <a:cs typeface="Instrument Sans Medium" pitchFamily="34" charset="-120"/>
              </a:rPr>
              <a:t>Over $1B in donations annually:</a:t>
            </a:r>
            <a:r>
              <a:rPr lang="en-US" dirty="0">
                <a:solidFill>
                  <a:srgbClr val="5B5F71"/>
                </a:solidFill>
                <a:ea typeface="Instrument Sans Medium" pitchFamily="34" charset="-122"/>
                <a:cs typeface="Instrument Sans Medium" pitchFamily="34" charset="-120"/>
              </a:rPr>
              <a:t> Significant financial contributions to non-profit organizations and community programs around the world, addressing pressing social issues.</a:t>
            </a:r>
            <a:endParaRPr lang="en-US" dirty="0"/>
          </a:p>
        </p:txBody>
      </p:sp>
      <p:sp>
        <p:nvSpPr>
          <p:cNvPr id="7" name="Text 5"/>
          <p:cNvSpPr/>
          <p:nvPr/>
        </p:nvSpPr>
        <p:spPr>
          <a:xfrm>
            <a:off x="686157" y="5341954"/>
            <a:ext cx="6419850" cy="548878"/>
          </a:xfrm>
          <a:prstGeom prst="rect">
            <a:avLst/>
          </a:prstGeom>
          <a:noFill/>
          <a:ln/>
        </p:spPr>
        <p:txBody>
          <a:bodyPr wrap="square" lIns="0" tIns="0" rIns="0" bIns="0" rtlCol="0" anchor="t"/>
          <a:lstStyle/>
          <a:p>
            <a:pPr marL="342900" indent="-342900" algn="l">
              <a:lnSpc>
                <a:spcPts val="2150"/>
              </a:lnSpc>
              <a:buSzPct val="100000"/>
              <a:buChar char="•"/>
            </a:pPr>
            <a:r>
              <a:rPr lang="en-US" b="1" dirty="0">
                <a:solidFill>
                  <a:srgbClr val="5B5F71"/>
                </a:solidFill>
                <a:ea typeface="Instrument Sans Medium" pitchFamily="34" charset="-122"/>
                <a:cs typeface="Instrument Sans Medium" pitchFamily="34" charset="-120"/>
              </a:rPr>
              <a:t>Accessibility and inclusion support:</a:t>
            </a:r>
            <a:r>
              <a:rPr lang="en-US" dirty="0">
                <a:solidFill>
                  <a:srgbClr val="5B5F71"/>
                </a:solidFill>
                <a:ea typeface="Instrument Sans Medium" pitchFamily="34" charset="-122"/>
                <a:cs typeface="Instrument Sans Medium" pitchFamily="34" charset="-120"/>
              </a:rPr>
              <a:t> Developing products and features that are accessible to people with disabilities, promoting digital inclusion for all.</a:t>
            </a:r>
            <a:endParaRPr lang="en-US" dirty="0"/>
          </a:p>
        </p:txBody>
      </p:sp>
      <p:sp>
        <p:nvSpPr>
          <p:cNvPr id="9" name="Text 6"/>
          <p:cNvSpPr/>
          <p:nvPr/>
        </p:nvSpPr>
        <p:spPr>
          <a:xfrm>
            <a:off x="686157" y="6520716"/>
            <a:ext cx="6419850" cy="1097756"/>
          </a:xfrm>
          <a:prstGeom prst="rect">
            <a:avLst/>
          </a:prstGeom>
          <a:noFill/>
          <a:ln/>
        </p:spPr>
        <p:txBody>
          <a:bodyPr wrap="square" lIns="0" tIns="0" rIns="0" bIns="0" rtlCol="0" anchor="t"/>
          <a:lstStyle/>
          <a:p>
            <a:pPr marL="0" indent="0" algn="l">
              <a:lnSpc>
                <a:spcPts val="2150"/>
              </a:lnSpc>
              <a:buNone/>
            </a:pPr>
            <a:r>
              <a:rPr lang="en-US" dirty="0">
                <a:solidFill>
                  <a:srgbClr val="5B5F71"/>
                </a:solidFill>
                <a:ea typeface="Instrument Sans Medium" pitchFamily="34" charset="-122"/>
                <a:cs typeface="Instrument Sans Medium" pitchFamily="34" charset="-120"/>
              </a:rPr>
              <a:t>Microsoft Philanthropies, the company's dedicated social impact arm, channels over $1 billion in annual donations to non-profits. This funding supports diverse causes, including accessibility and inclusion, ensuring technology benefits everyone.</a:t>
            </a:r>
            <a:endParaRPr lang="en-US"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2898" y="2583930"/>
            <a:ext cx="6098965" cy="4505729"/>
          </a:xfrm>
          <a:prstGeom prst="rect">
            <a:avLst/>
          </a:prstGeom>
        </p:spPr>
      </p:pic>
      <p:sp>
        <p:nvSpPr>
          <p:cNvPr id="11" name="Rectangle 10"/>
          <p:cNvSpPr/>
          <p:nvPr/>
        </p:nvSpPr>
        <p:spPr>
          <a:xfrm>
            <a:off x="12181668" y="7714028"/>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01279"/>
            <a:ext cx="6720721" cy="620078"/>
          </a:xfrm>
          <a:prstGeom prst="rect">
            <a:avLst/>
          </a:prstGeom>
          <a:noFill/>
          <a:ln/>
        </p:spPr>
        <p:txBody>
          <a:bodyPr wrap="none" lIns="0" tIns="0" rIns="0" bIns="0" rtlCol="0" anchor="t"/>
          <a:lstStyle/>
          <a:p>
            <a:pPr marL="0" indent="0" algn="l">
              <a:lnSpc>
                <a:spcPts val="4850"/>
              </a:lnSpc>
              <a:buNone/>
            </a:pPr>
            <a:r>
              <a:rPr lang="en-US" sz="3200" b="1" dirty="0" smtClean="0">
                <a:solidFill>
                  <a:srgbClr val="505468"/>
                </a:solidFill>
                <a:latin typeface="+mj-lt"/>
                <a:ea typeface="Instrument Sans Semi Bold" pitchFamily="34" charset="-122"/>
                <a:cs typeface="Instrument Sans Semi Bold" pitchFamily="34" charset="-120"/>
              </a:rPr>
              <a:t>5.Environmental </a:t>
            </a:r>
            <a:r>
              <a:rPr lang="en-US" sz="3200" b="1" dirty="0">
                <a:solidFill>
                  <a:srgbClr val="505468"/>
                </a:solidFill>
                <a:latin typeface="+mj-lt"/>
                <a:ea typeface="Instrument Sans Semi Bold" pitchFamily="34" charset="-122"/>
                <a:cs typeface="Instrument Sans Semi Bold" pitchFamily="34" charset="-120"/>
              </a:rPr>
              <a:t>Sustainability</a:t>
            </a:r>
            <a:endParaRPr lang="en-US" sz="3200" b="1" dirty="0">
              <a:latin typeface="+mj-lt"/>
            </a:endParaRPr>
          </a:p>
        </p:txBody>
      </p:sp>
      <p:sp>
        <p:nvSpPr>
          <p:cNvPr id="3" name="Text 1"/>
          <p:cNvSpPr/>
          <p:nvPr/>
        </p:nvSpPr>
        <p:spPr>
          <a:xfrm>
            <a:off x="793790" y="1862138"/>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Microsoft is deeply committed to addressing climate change and minimizing its environmental footprint. The company has set ambitious goals to achieve carbon negativity and transition to renewable energy sources, leading by example in the tech industry.</a:t>
            </a:r>
            <a:endParaRPr lang="en-US" dirty="0"/>
          </a:p>
        </p:txBody>
      </p:sp>
      <p:sp>
        <p:nvSpPr>
          <p:cNvPr id="4" name="Text 2"/>
          <p:cNvSpPr/>
          <p:nvPr/>
        </p:nvSpPr>
        <p:spPr>
          <a:xfrm>
            <a:off x="793789" y="2797968"/>
            <a:ext cx="4182189" cy="654963"/>
          </a:xfrm>
          <a:prstGeom prst="rect">
            <a:avLst/>
          </a:prstGeom>
          <a:noFill/>
          <a:ln/>
        </p:spPr>
        <p:txBody>
          <a:bodyPr wrap="none" lIns="0" tIns="0" rIns="0" bIns="0" rtlCol="0" anchor="t"/>
          <a:lstStyle/>
          <a:p>
            <a:pPr marL="0" indent="0" algn="ctr">
              <a:lnSpc>
                <a:spcPts val="5150"/>
              </a:lnSpc>
              <a:buNone/>
            </a:pPr>
            <a:r>
              <a:rPr lang="en-US" dirty="0">
                <a:solidFill>
                  <a:srgbClr val="5B5F71"/>
                </a:solidFill>
                <a:ea typeface="Instrument Sans Semi Bold" pitchFamily="34" charset="-122"/>
                <a:cs typeface="Instrument Sans Semi Bold" pitchFamily="34" charset="-120"/>
              </a:rPr>
              <a:t>2030</a:t>
            </a:r>
            <a:endParaRPr lang="en-US" dirty="0"/>
          </a:p>
        </p:txBody>
      </p:sp>
      <p:sp>
        <p:nvSpPr>
          <p:cNvPr id="5" name="Text 3"/>
          <p:cNvSpPr/>
          <p:nvPr/>
        </p:nvSpPr>
        <p:spPr>
          <a:xfrm>
            <a:off x="1610438" y="3700938"/>
            <a:ext cx="2548771" cy="310158"/>
          </a:xfrm>
          <a:prstGeom prst="rect">
            <a:avLst/>
          </a:prstGeom>
          <a:noFill/>
          <a:ln/>
        </p:spPr>
        <p:txBody>
          <a:bodyPr wrap="none" lIns="0" tIns="0" rIns="0" bIns="0" rtlCol="0" anchor="t"/>
          <a:lstStyle/>
          <a:p>
            <a:pPr marL="0" indent="0" algn="ctr">
              <a:lnSpc>
                <a:spcPts val="2400"/>
              </a:lnSpc>
              <a:buNone/>
            </a:pPr>
            <a:r>
              <a:rPr lang="en-US" dirty="0">
                <a:solidFill>
                  <a:srgbClr val="5B5F71"/>
                </a:solidFill>
                <a:ea typeface="Instrument Sans Semi Bold" pitchFamily="34" charset="-122"/>
                <a:cs typeface="Instrument Sans Semi Bold" pitchFamily="34" charset="-120"/>
              </a:rPr>
              <a:t>Carbon Negative Goal</a:t>
            </a:r>
            <a:endParaRPr lang="en-US" dirty="0"/>
          </a:p>
        </p:txBody>
      </p:sp>
      <p:sp>
        <p:nvSpPr>
          <p:cNvPr id="6" name="Text 4"/>
          <p:cNvSpPr/>
          <p:nvPr/>
        </p:nvSpPr>
        <p:spPr>
          <a:xfrm>
            <a:off x="793789" y="4130158"/>
            <a:ext cx="4182189" cy="1270159"/>
          </a:xfrm>
          <a:prstGeom prst="rect">
            <a:avLst/>
          </a:prstGeom>
          <a:noFill/>
          <a:ln/>
        </p:spPr>
        <p:txBody>
          <a:bodyPr wrap="square" lIns="0" tIns="0" rIns="0" bIns="0" rtlCol="0" anchor="t"/>
          <a:lstStyle/>
          <a:p>
            <a:pPr marL="0" indent="0" algn="ctr">
              <a:lnSpc>
                <a:spcPts val="2500"/>
              </a:lnSpc>
              <a:buNone/>
            </a:pPr>
            <a:r>
              <a:rPr lang="en-US" dirty="0">
                <a:solidFill>
                  <a:srgbClr val="5B5F71"/>
                </a:solidFill>
                <a:ea typeface="Instrument Sans Medium" pitchFamily="34" charset="-122"/>
                <a:cs typeface="Instrument Sans Medium" pitchFamily="34" charset="-120"/>
              </a:rPr>
              <a:t>Microsoft aims to be carbon negative by 2030, meaning it will remove more carbon from the atmosphere than it emits, covering all emissions historically and currently.</a:t>
            </a:r>
            <a:endParaRPr lang="en-US" dirty="0"/>
          </a:p>
        </p:txBody>
      </p:sp>
      <p:sp>
        <p:nvSpPr>
          <p:cNvPr id="7" name="Text 5"/>
          <p:cNvSpPr/>
          <p:nvPr/>
        </p:nvSpPr>
        <p:spPr>
          <a:xfrm>
            <a:off x="5224046" y="2797968"/>
            <a:ext cx="4182308" cy="654963"/>
          </a:xfrm>
          <a:prstGeom prst="rect">
            <a:avLst/>
          </a:prstGeom>
          <a:noFill/>
          <a:ln/>
        </p:spPr>
        <p:txBody>
          <a:bodyPr wrap="none" lIns="0" tIns="0" rIns="0" bIns="0" rtlCol="0" anchor="t"/>
          <a:lstStyle/>
          <a:p>
            <a:pPr marL="0" indent="0" algn="ctr">
              <a:lnSpc>
                <a:spcPts val="5150"/>
              </a:lnSpc>
              <a:buNone/>
            </a:pPr>
            <a:r>
              <a:rPr lang="en-US" dirty="0">
                <a:solidFill>
                  <a:srgbClr val="5B5F71"/>
                </a:solidFill>
                <a:ea typeface="Instrument Sans Semi Bold" pitchFamily="34" charset="-122"/>
                <a:cs typeface="Instrument Sans Semi Bold" pitchFamily="34" charset="-120"/>
              </a:rPr>
              <a:t>100%</a:t>
            </a:r>
            <a:endParaRPr lang="en-US" dirty="0"/>
          </a:p>
        </p:txBody>
      </p:sp>
      <p:sp>
        <p:nvSpPr>
          <p:cNvPr id="8" name="Text 6"/>
          <p:cNvSpPr/>
          <p:nvPr/>
        </p:nvSpPr>
        <p:spPr>
          <a:xfrm>
            <a:off x="6074748" y="3700938"/>
            <a:ext cx="2480905" cy="310158"/>
          </a:xfrm>
          <a:prstGeom prst="rect">
            <a:avLst/>
          </a:prstGeom>
          <a:noFill/>
          <a:ln/>
        </p:spPr>
        <p:txBody>
          <a:bodyPr wrap="none" lIns="0" tIns="0" rIns="0" bIns="0" rtlCol="0" anchor="t"/>
          <a:lstStyle/>
          <a:p>
            <a:pPr marL="0" indent="0" algn="ctr">
              <a:lnSpc>
                <a:spcPts val="2400"/>
              </a:lnSpc>
              <a:buNone/>
            </a:pPr>
            <a:r>
              <a:rPr lang="en-US" dirty="0">
                <a:solidFill>
                  <a:srgbClr val="5B5F71"/>
                </a:solidFill>
                <a:ea typeface="Instrument Sans Semi Bold" pitchFamily="34" charset="-122"/>
                <a:cs typeface="Instrument Sans Semi Bold" pitchFamily="34" charset="-120"/>
              </a:rPr>
              <a:t>Renewable Energy</a:t>
            </a:r>
            <a:endParaRPr lang="en-US" dirty="0"/>
          </a:p>
        </p:txBody>
      </p:sp>
      <p:sp>
        <p:nvSpPr>
          <p:cNvPr id="9" name="Text 7"/>
          <p:cNvSpPr/>
          <p:nvPr/>
        </p:nvSpPr>
        <p:spPr>
          <a:xfrm>
            <a:off x="5224046" y="4130158"/>
            <a:ext cx="4182308" cy="1270159"/>
          </a:xfrm>
          <a:prstGeom prst="rect">
            <a:avLst/>
          </a:prstGeom>
          <a:noFill/>
          <a:ln/>
        </p:spPr>
        <p:txBody>
          <a:bodyPr wrap="square" lIns="0" tIns="0" rIns="0" bIns="0" rtlCol="0" anchor="t"/>
          <a:lstStyle/>
          <a:p>
            <a:pPr marL="0" indent="0" algn="ctr">
              <a:lnSpc>
                <a:spcPts val="2500"/>
              </a:lnSpc>
              <a:buNone/>
            </a:pPr>
            <a:r>
              <a:rPr lang="en-US" dirty="0">
                <a:solidFill>
                  <a:srgbClr val="5B5F71"/>
                </a:solidFill>
                <a:ea typeface="Instrument Sans Medium" pitchFamily="34" charset="-122"/>
                <a:cs typeface="Instrument Sans Medium" pitchFamily="34" charset="-120"/>
              </a:rPr>
              <a:t>By 2025, Microsoft aims to power 100% of its operations with renewable energy, investing heavily in green energy projects and power purchase agreements.</a:t>
            </a:r>
            <a:endParaRPr lang="en-US" dirty="0"/>
          </a:p>
        </p:txBody>
      </p:sp>
      <p:sp>
        <p:nvSpPr>
          <p:cNvPr id="10" name="Text 8"/>
          <p:cNvSpPr/>
          <p:nvPr/>
        </p:nvSpPr>
        <p:spPr>
          <a:xfrm>
            <a:off x="9654422" y="2797968"/>
            <a:ext cx="4182308" cy="654963"/>
          </a:xfrm>
          <a:prstGeom prst="rect">
            <a:avLst/>
          </a:prstGeom>
          <a:noFill/>
          <a:ln/>
        </p:spPr>
        <p:txBody>
          <a:bodyPr wrap="none" lIns="0" tIns="0" rIns="0" bIns="0" rtlCol="0" anchor="t"/>
          <a:lstStyle/>
          <a:p>
            <a:pPr marL="0" indent="0" algn="ctr">
              <a:lnSpc>
                <a:spcPts val="5150"/>
              </a:lnSpc>
              <a:buNone/>
            </a:pPr>
            <a:r>
              <a:rPr lang="en-US" dirty="0">
                <a:solidFill>
                  <a:srgbClr val="5B5F71"/>
                </a:solidFill>
                <a:ea typeface="Instrument Sans Semi Bold" pitchFamily="34" charset="-122"/>
                <a:cs typeface="Instrument Sans Semi Bold" pitchFamily="34" charset="-120"/>
              </a:rPr>
              <a:t>Zero</a:t>
            </a:r>
            <a:endParaRPr lang="en-US" dirty="0"/>
          </a:p>
        </p:txBody>
      </p:sp>
      <p:sp>
        <p:nvSpPr>
          <p:cNvPr id="11" name="Text 9"/>
          <p:cNvSpPr/>
          <p:nvPr/>
        </p:nvSpPr>
        <p:spPr>
          <a:xfrm>
            <a:off x="10505123" y="3700938"/>
            <a:ext cx="2480905" cy="310158"/>
          </a:xfrm>
          <a:prstGeom prst="rect">
            <a:avLst/>
          </a:prstGeom>
          <a:noFill/>
          <a:ln/>
        </p:spPr>
        <p:txBody>
          <a:bodyPr wrap="none" lIns="0" tIns="0" rIns="0" bIns="0" rtlCol="0" anchor="t"/>
          <a:lstStyle/>
          <a:p>
            <a:pPr marL="0" indent="0" algn="ctr">
              <a:lnSpc>
                <a:spcPts val="2400"/>
              </a:lnSpc>
              <a:buNone/>
            </a:pPr>
            <a:r>
              <a:rPr lang="en-US" dirty="0">
                <a:solidFill>
                  <a:srgbClr val="5B5F71"/>
                </a:solidFill>
                <a:ea typeface="Instrument Sans Semi Bold" pitchFamily="34" charset="-122"/>
                <a:cs typeface="Instrument Sans Semi Bold" pitchFamily="34" charset="-120"/>
              </a:rPr>
              <a:t>Waste Data Centers</a:t>
            </a:r>
            <a:endParaRPr lang="en-US" dirty="0"/>
          </a:p>
        </p:txBody>
      </p:sp>
      <p:sp>
        <p:nvSpPr>
          <p:cNvPr id="12" name="Text 10"/>
          <p:cNvSpPr/>
          <p:nvPr/>
        </p:nvSpPr>
        <p:spPr>
          <a:xfrm>
            <a:off x="9654422" y="4130158"/>
            <a:ext cx="4182308" cy="1587698"/>
          </a:xfrm>
          <a:prstGeom prst="rect">
            <a:avLst/>
          </a:prstGeom>
          <a:noFill/>
          <a:ln/>
        </p:spPr>
        <p:txBody>
          <a:bodyPr wrap="square" lIns="0" tIns="0" rIns="0" bIns="0" rtlCol="0" anchor="t"/>
          <a:lstStyle/>
          <a:p>
            <a:pPr marL="0" indent="0" algn="ctr">
              <a:lnSpc>
                <a:spcPts val="2500"/>
              </a:lnSpc>
              <a:buNone/>
            </a:pPr>
            <a:r>
              <a:rPr lang="en-US" dirty="0">
                <a:solidFill>
                  <a:srgbClr val="5B5F71"/>
                </a:solidFill>
                <a:ea typeface="Instrument Sans Medium" pitchFamily="34" charset="-122"/>
                <a:cs typeface="Instrument Sans Medium" pitchFamily="34" charset="-120"/>
              </a:rPr>
              <a:t>The company is working towards achieving zero waste operations for its data centers and campuses by 2030, focusing on circular economy principles for materials and equipment.</a:t>
            </a:r>
            <a:endParaRPr lang="en-US" dirty="0"/>
          </a:p>
        </p:txBody>
      </p:sp>
      <p:sp>
        <p:nvSpPr>
          <p:cNvPr id="13" name="Text 11"/>
          <p:cNvSpPr/>
          <p:nvPr/>
        </p:nvSpPr>
        <p:spPr>
          <a:xfrm>
            <a:off x="993100" y="6216548"/>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5B5F71"/>
                </a:solidFill>
                <a:ea typeface="Instrument Sans Medium" pitchFamily="34" charset="-122"/>
                <a:cs typeface="Instrument Sans Medium" pitchFamily="34" charset="-120"/>
              </a:rPr>
              <a:t>Investments in renewable energy and the development of eco-friendly data centers are central to this mission. Transparency is maintained through regular Sustainability Reports, detailing progress and challenges.</a:t>
            </a:r>
            <a:endParaRPr lang="en-US" dirty="0"/>
          </a:p>
        </p:txBody>
      </p:sp>
      <p:sp>
        <p:nvSpPr>
          <p:cNvPr id="14" name="Rectangle 13"/>
          <p:cNvSpPr/>
          <p:nvPr/>
        </p:nvSpPr>
        <p:spPr>
          <a:xfrm>
            <a:off x="12181668" y="7667858"/>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50081"/>
            <a:ext cx="6051233" cy="558165"/>
          </a:xfrm>
          <a:prstGeom prst="rect">
            <a:avLst/>
          </a:prstGeom>
          <a:noFill/>
          <a:ln/>
        </p:spPr>
        <p:txBody>
          <a:bodyPr wrap="none" lIns="0" tIns="0" rIns="0" bIns="0" rtlCol="0" anchor="t"/>
          <a:lstStyle/>
          <a:p>
            <a:pPr marL="0" indent="0" algn="l">
              <a:lnSpc>
                <a:spcPts val="4350"/>
              </a:lnSpc>
              <a:buNone/>
            </a:pPr>
            <a:r>
              <a:rPr lang="en-US" sz="3200" b="1" dirty="0" smtClean="0">
                <a:solidFill>
                  <a:srgbClr val="505468"/>
                </a:solidFill>
                <a:latin typeface="+mj-lt"/>
                <a:ea typeface="Instrument Sans Semi Bold" pitchFamily="34" charset="-122"/>
                <a:cs typeface="Instrument Sans Semi Bold" pitchFamily="34" charset="-120"/>
              </a:rPr>
              <a:t>6.Workplace </a:t>
            </a:r>
            <a:r>
              <a:rPr lang="en-US" sz="3200" b="1" dirty="0">
                <a:solidFill>
                  <a:srgbClr val="505468"/>
                </a:solidFill>
                <a:latin typeface="+mj-lt"/>
                <a:ea typeface="Instrument Sans Semi Bold" pitchFamily="34" charset="-122"/>
                <a:cs typeface="Instrument Sans Semi Bold" pitchFamily="34" charset="-120"/>
              </a:rPr>
              <a:t>Ethics &amp; Diversity</a:t>
            </a:r>
            <a:endParaRPr lang="en-US" sz="3200" b="1" dirty="0">
              <a:latin typeface="+mj-lt"/>
            </a:endParaRPr>
          </a:p>
        </p:txBody>
      </p:sp>
      <p:sp>
        <p:nvSpPr>
          <p:cNvPr id="3" name="Text 1"/>
          <p:cNvSpPr/>
          <p:nvPr/>
        </p:nvSpPr>
        <p:spPr>
          <a:xfrm>
            <a:off x="793790" y="1565434"/>
            <a:ext cx="13042821" cy="571500"/>
          </a:xfrm>
          <a:prstGeom prst="rect">
            <a:avLst/>
          </a:prstGeom>
          <a:noFill/>
          <a:ln/>
        </p:spPr>
        <p:txBody>
          <a:bodyPr wrap="square" lIns="0" tIns="0" rIns="0" bIns="0" rtlCol="0" anchor="t"/>
          <a:lstStyle/>
          <a:p>
            <a:pPr marL="0" indent="0" algn="l">
              <a:lnSpc>
                <a:spcPts val="2250"/>
              </a:lnSpc>
              <a:buNone/>
            </a:pPr>
            <a:r>
              <a:rPr lang="en-US" dirty="0">
                <a:solidFill>
                  <a:srgbClr val="5B5F71"/>
                </a:solidFill>
                <a:ea typeface="Instrument Sans Medium" pitchFamily="34" charset="-122"/>
                <a:cs typeface="Instrument Sans Medium" pitchFamily="34" charset="-120"/>
              </a:rPr>
              <a:t>Microsoft recognizes that a diverse and inclusive workforce is essential for innovation and ethical conduct. The company fosters an environment where all employees feel valued and respected, free from discrimination.</a:t>
            </a:r>
            <a:endParaRPr lang="en-US" dirty="0"/>
          </a:p>
        </p:txBody>
      </p:sp>
      <p:pic>
        <p:nvPicPr>
          <p:cNvPr id="4" name="Image 0" descr="preencoded.png"/>
          <p:cNvPicPr>
            <a:picLocks noChangeAspect="1"/>
          </p:cNvPicPr>
          <p:nvPr/>
        </p:nvPicPr>
        <p:blipFill>
          <a:blip r:embed="rId3"/>
          <a:stretch>
            <a:fillRect/>
          </a:stretch>
        </p:blipFill>
        <p:spPr>
          <a:xfrm>
            <a:off x="793790" y="2538651"/>
            <a:ext cx="6303526" cy="4312920"/>
          </a:xfrm>
          <a:prstGeom prst="rect">
            <a:avLst/>
          </a:prstGeom>
        </p:spPr>
      </p:pic>
      <p:sp>
        <p:nvSpPr>
          <p:cNvPr id="5" name="Text 2"/>
          <p:cNvSpPr/>
          <p:nvPr/>
        </p:nvSpPr>
        <p:spPr>
          <a:xfrm>
            <a:off x="7315200" y="2274377"/>
            <a:ext cx="6303526" cy="857250"/>
          </a:xfrm>
          <a:prstGeom prst="rect">
            <a:avLst/>
          </a:prstGeom>
          <a:noFill/>
          <a:ln/>
        </p:spPr>
        <p:txBody>
          <a:bodyPr wrap="square" lIns="0" tIns="0" rIns="0" bIns="0" rtlCol="0" anchor="t"/>
          <a:lstStyle/>
          <a:p>
            <a:pPr marL="342900" indent="-342900" algn="l">
              <a:lnSpc>
                <a:spcPts val="2250"/>
              </a:lnSpc>
              <a:buSzPct val="100000"/>
              <a:buChar char="•"/>
            </a:pPr>
            <a:r>
              <a:rPr lang="en-US" b="1" dirty="0">
                <a:solidFill>
                  <a:srgbClr val="5B5F71"/>
                </a:solidFill>
                <a:ea typeface="Instrument Sans Medium" pitchFamily="34" charset="-122"/>
                <a:cs typeface="Instrument Sans Medium" pitchFamily="34" charset="-120"/>
              </a:rPr>
              <a:t>Annual D&amp;I Reports:</a:t>
            </a:r>
            <a:r>
              <a:rPr lang="en-US" dirty="0">
                <a:solidFill>
                  <a:srgbClr val="5B5F71"/>
                </a:solidFill>
                <a:ea typeface="Instrument Sans Medium" pitchFamily="34" charset="-122"/>
                <a:cs typeface="Instrument Sans Medium" pitchFamily="34" charset="-120"/>
              </a:rPr>
              <a:t> Publicly available reports detailing workforce demographics, progress on diversity goals, and initiatives to foster inclusion.</a:t>
            </a:r>
            <a:endParaRPr lang="en-US" dirty="0"/>
          </a:p>
        </p:txBody>
      </p:sp>
      <p:sp>
        <p:nvSpPr>
          <p:cNvPr id="6" name="Text 3"/>
          <p:cNvSpPr/>
          <p:nvPr/>
        </p:nvSpPr>
        <p:spPr>
          <a:xfrm>
            <a:off x="7315200" y="3252441"/>
            <a:ext cx="6303526" cy="857250"/>
          </a:xfrm>
          <a:prstGeom prst="rect">
            <a:avLst/>
          </a:prstGeom>
          <a:noFill/>
          <a:ln/>
        </p:spPr>
        <p:txBody>
          <a:bodyPr wrap="square" lIns="0" tIns="0" rIns="0" bIns="0" rtlCol="0" anchor="t"/>
          <a:lstStyle/>
          <a:p>
            <a:pPr marL="342900" indent="-342900" algn="l">
              <a:lnSpc>
                <a:spcPts val="2250"/>
              </a:lnSpc>
              <a:buSzPct val="100000"/>
              <a:buChar char="•"/>
            </a:pPr>
            <a:r>
              <a:rPr lang="en-US" b="1" dirty="0">
                <a:solidFill>
                  <a:srgbClr val="5B5F71"/>
                </a:solidFill>
                <a:ea typeface="Instrument Sans Medium" pitchFamily="34" charset="-122"/>
                <a:cs typeface="Instrument Sans Medium" pitchFamily="34" charset="-120"/>
              </a:rPr>
              <a:t>Anti-discrimination policies:</a:t>
            </a:r>
            <a:r>
              <a:rPr lang="en-US" dirty="0">
                <a:solidFill>
                  <a:srgbClr val="5B5F71"/>
                </a:solidFill>
                <a:ea typeface="Instrument Sans Medium" pitchFamily="34" charset="-122"/>
                <a:cs typeface="Instrument Sans Medium" pitchFamily="34" charset="-120"/>
              </a:rPr>
              <a:t> Strict policies and procedures in place to prevent and address discrimination based on race, gender, sexual orientation, religion, disability, and other protected characteristics.</a:t>
            </a:r>
            <a:endParaRPr lang="en-US" dirty="0"/>
          </a:p>
        </p:txBody>
      </p:sp>
      <p:sp>
        <p:nvSpPr>
          <p:cNvPr id="7" name="Text 4"/>
          <p:cNvSpPr/>
          <p:nvPr/>
        </p:nvSpPr>
        <p:spPr>
          <a:xfrm>
            <a:off x="7315200" y="4450283"/>
            <a:ext cx="6303526" cy="857250"/>
          </a:xfrm>
          <a:prstGeom prst="rect">
            <a:avLst/>
          </a:prstGeom>
          <a:noFill/>
          <a:ln/>
        </p:spPr>
        <p:txBody>
          <a:bodyPr wrap="square" lIns="0" tIns="0" rIns="0" bIns="0" rtlCol="0" anchor="t"/>
          <a:lstStyle/>
          <a:p>
            <a:pPr marL="342900" indent="-342900" algn="l">
              <a:lnSpc>
                <a:spcPts val="2250"/>
              </a:lnSpc>
              <a:buSzPct val="100000"/>
              <a:buChar char="•"/>
            </a:pPr>
            <a:r>
              <a:rPr lang="en-US" b="1" dirty="0">
                <a:solidFill>
                  <a:srgbClr val="5B5F71"/>
                </a:solidFill>
                <a:ea typeface="Instrument Sans Medium" pitchFamily="34" charset="-122"/>
                <a:cs typeface="Instrument Sans Medium" pitchFamily="34" charset="-120"/>
              </a:rPr>
              <a:t>Employee resource groups (ERGs):</a:t>
            </a:r>
            <a:r>
              <a:rPr lang="en-US" dirty="0">
                <a:solidFill>
                  <a:srgbClr val="5B5F71"/>
                </a:solidFill>
                <a:ea typeface="Instrument Sans Medium" pitchFamily="34" charset="-122"/>
                <a:cs typeface="Instrument Sans Medium" pitchFamily="34" charset="-120"/>
              </a:rPr>
              <a:t> Networks for employees with shared identities or interests, providing support, fostering community, and contributing to company culture.</a:t>
            </a:r>
            <a:endParaRPr lang="en-US" dirty="0"/>
          </a:p>
        </p:txBody>
      </p:sp>
      <p:sp>
        <p:nvSpPr>
          <p:cNvPr id="8" name="Text 5"/>
          <p:cNvSpPr/>
          <p:nvPr/>
        </p:nvSpPr>
        <p:spPr>
          <a:xfrm>
            <a:off x="7315200" y="5441338"/>
            <a:ext cx="6303526" cy="857250"/>
          </a:xfrm>
          <a:prstGeom prst="rect">
            <a:avLst/>
          </a:prstGeom>
          <a:noFill/>
          <a:ln/>
        </p:spPr>
        <p:txBody>
          <a:bodyPr wrap="square" lIns="0" tIns="0" rIns="0" bIns="0" rtlCol="0" anchor="t"/>
          <a:lstStyle/>
          <a:p>
            <a:pPr marL="342900" indent="-342900" algn="l">
              <a:lnSpc>
                <a:spcPts val="2250"/>
              </a:lnSpc>
              <a:buSzPct val="100000"/>
              <a:buChar char="•"/>
            </a:pPr>
            <a:r>
              <a:rPr lang="en-US" b="1" dirty="0">
                <a:solidFill>
                  <a:srgbClr val="5B5F71"/>
                </a:solidFill>
                <a:ea typeface="Instrument Sans Medium" pitchFamily="34" charset="-122"/>
                <a:cs typeface="Instrument Sans Medium" pitchFamily="34" charset="-120"/>
              </a:rPr>
              <a:t>Inclusive hiring programs:</a:t>
            </a:r>
            <a:r>
              <a:rPr lang="en-US" dirty="0">
                <a:solidFill>
                  <a:srgbClr val="5B5F71"/>
                </a:solidFill>
                <a:ea typeface="Instrument Sans Medium" pitchFamily="34" charset="-122"/>
                <a:cs typeface="Instrument Sans Medium" pitchFamily="34" charset="-120"/>
              </a:rPr>
              <a:t> Initiatives designed to attract and recruit talent from diverse backgrounds, ensuring a wide range of perspectives within the workforce.</a:t>
            </a:r>
            <a:endParaRPr lang="en-US" dirty="0"/>
          </a:p>
        </p:txBody>
      </p:sp>
      <p:sp>
        <p:nvSpPr>
          <p:cNvPr id="9" name="Text 6"/>
          <p:cNvSpPr/>
          <p:nvPr/>
        </p:nvSpPr>
        <p:spPr>
          <a:xfrm>
            <a:off x="7540703" y="6455642"/>
            <a:ext cx="6733235" cy="1143000"/>
          </a:xfrm>
          <a:prstGeom prst="rect">
            <a:avLst/>
          </a:prstGeom>
          <a:noFill/>
          <a:ln/>
        </p:spPr>
        <p:txBody>
          <a:bodyPr wrap="square" lIns="0" tIns="0" rIns="0" bIns="0" rtlCol="0" anchor="t"/>
          <a:lstStyle/>
          <a:p>
            <a:pPr marL="0" indent="0" algn="l">
              <a:lnSpc>
                <a:spcPts val="2250"/>
              </a:lnSpc>
              <a:buNone/>
            </a:pPr>
            <a:r>
              <a:rPr lang="en-US" dirty="0">
                <a:solidFill>
                  <a:srgbClr val="5B5F71"/>
                </a:solidFill>
                <a:ea typeface="Instrument Sans Medium" pitchFamily="34" charset="-122"/>
                <a:cs typeface="Instrument Sans Medium" pitchFamily="34" charset="-120"/>
              </a:rPr>
              <a:t>Annual Diversity and Inclusion (D&amp;I) Reports provide accountability, while comprehensive anti-discrimination policies and numerous employee resource groups reinforce a culture of fairness and equity. Inclusive hiring programs are vital for attracting diverse talent and perspectives.</a:t>
            </a:r>
            <a:endParaRPr lang="en-US" dirty="0"/>
          </a:p>
        </p:txBody>
      </p:sp>
      <p:sp>
        <p:nvSpPr>
          <p:cNvPr id="10" name="Rectangle 9"/>
          <p:cNvSpPr/>
          <p:nvPr/>
        </p:nvSpPr>
        <p:spPr>
          <a:xfrm>
            <a:off x="12181668" y="7688953"/>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29126"/>
            <a:ext cx="6752392" cy="589121"/>
          </a:xfrm>
          <a:prstGeom prst="rect">
            <a:avLst/>
          </a:prstGeom>
          <a:noFill/>
          <a:ln/>
        </p:spPr>
        <p:txBody>
          <a:bodyPr wrap="none" lIns="0" tIns="0" rIns="0" bIns="0" rtlCol="0" anchor="t"/>
          <a:lstStyle/>
          <a:p>
            <a:pPr marL="0" indent="0" algn="l">
              <a:lnSpc>
                <a:spcPts val="4600"/>
              </a:lnSpc>
              <a:buNone/>
            </a:pPr>
            <a:r>
              <a:rPr lang="en-US" sz="4000" b="1" dirty="0">
                <a:solidFill>
                  <a:srgbClr val="505468"/>
                </a:solidFill>
                <a:latin typeface="+mj-lt"/>
                <a:ea typeface="Instrument Sans Semi Bold" pitchFamily="34" charset="-122"/>
                <a:cs typeface="Instrument Sans Semi Bold" pitchFamily="34" charset="-120"/>
              </a:rPr>
              <a:t>Ethical Challenges &amp; Solutions</a:t>
            </a:r>
            <a:endParaRPr lang="en-US" sz="4000" b="1" dirty="0">
              <a:latin typeface="+mj-lt"/>
            </a:endParaRPr>
          </a:p>
        </p:txBody>
      </p:sp>
      <p:sp>
        <p:nvSpPr>
          <p:cNvPr id="3" name="Text 1"/>
          <p:cNvSpPr/>
          <p:nvPr/>
        </p:nvSpPr>
        <p:spPr>
          <a:xfrm>
            <a:off x="793790" y="1595318"/>
            <a:ext cx="13042821" cy="603409"/>
          </a:xfrm>
          <a:prstGeom prst="rect">
            <a:avLst/>
          </a:prstGeom>
          <a:noFill/>
          <a:ln/>
        </p:spPr>
        <p:txBody>
          <a:bodyPr wrap="square" lIns="0" tIns="0" rIns="0" bIns="0" rtlCol="0" anchor="t"/>
          <a:lstStyle/>
          <a:p>
            <a:pPr marL="0" indent="0" algn="l">
              <a:lnSpc>
                <a:spcPts val="2350"/>
              </a:lnSpc>
              <a:buNone/>
            </a:pPr>
            <a:r>
              <a:rPr lang="en-US" dirty="0">
                <a:solidFill>
                  <a:srgbClr val="5B5F71"/>
                </a:solidFill>
                <a:ea typeface="Instrument Sans Medium" pitchFamily="34" charset="-122"/>
                <a:cs typeface="Instrument Sans Medium" pitchFamily="34" charset="-120"/>
              </a:rPr>
              <a:t>Like any large corporation, Microsoft has faced its share of ethical challenges. However, its response to these incidents demonstrates a commitment to learning, adapting, and reinforcing its ethical framework.</a:t>
            </a:r>
            <a:endParaRPr lang="en-US" dirty="0"/>
          </a:p>
        </p:txBody>
      </p:sp>
      <p:pic>
        <p:nvPicPr>
          <p:cNvPr id="4" name="Image 0" descr="preencoded.png"/>
          <p:cNvPicPr>
            <a:picLocks noChangeAspect="1"/>
          </p:cNvPicPr>
          <p:nvPr/>
        </p:nvPicPr>
        <p:blipFill>
          <a:blip r:embed="rId3"/>
          <a:stretch>
            <a:fillRect/>
          </a:stretch>
        </p:blipFill>
        <p:spPr>
          <a:xfrm>
            <a:off x="793790" y="2410778"/>
            <a:ext cx="6521410" cy="754142"/>
          </a:xfrm>
          <a:prstGeom prst="rect">
            <a:avLst/>
          </a:prstGeom>
        </p:spPr>
      </p:pic>
      <p:sp>
        <p:nvSpPr>
          <p:cNvPr id="5" name="Text 2"/>
          <p:cNvSpPr/>
          <p:nvPr/>
        </p:nvSpPr>
        <p:spPr>
          <a:xfrm>
            <a:off x="982266" y="3353395"/>
            <a:ext cx="2497455" cy="294680"/>
          </a:xfrm>
          <a:prstGeom prst="rect">
            <a:avLst/>
          </a:prstGeom>
          <a:noFill/>
          <a:ln/>
        </p:spPr>
        <p:txBody>
          <a:bodyPr wrap="none" lIns="0" tIns="0" rIns="0" bIns="0" rtlCol="0" anchor="t"/>
          <a:lstStyle/>
          <a:p>
            <a:pPr marL="0" indent="0" algn="l">
              <a:lnSpc>
                <a:spcPts val="2300"/>
              </a:lnSpc>
              <a:buNone/>
            </a:pPr>
            <a:r>
              <a:rPr lang="en-US" dirty="0">
                <a:solidFill>
                  <a:srgbClr val="5B5F71"/>
                </a:solidFill>
                <a:ea typeface="Instrument Sans Semi Bold" pitchFamily="34" charset="-122"/>
                <a:cs typeface="Instrument Sans Semi Bold" pitchFamily="34" charset="-120"/>
              </a:rPr>
              <a:t>PRISM Program (2013)</a:t>
            </a:r>
            <a:endParaRPr lang="en-US" dirty="0"/>
          </a:p>
        </p:txBody>
      </p:sp>
      <p:sp>
        <p:nvSpPr>
          <p:cNvPr id="6" name="Text 3"/>
          <p:cNvSpPr/>
          <p:nvPr/>
        </p:nvSpPr>
        <p:spPr>
          <a:xfrm>
            <a:off x="982266" y="3761184"/>
            <a:ext cx="6144458" cy="905113"/>
          </a:xfrm>
          <a:prstGeom prst="rect">
            <a:avLst/>
          </a:prstGeom>
          <a:noFill/>
          <a:ln/>
        </p:spPr>
        <p:txBody>
          <a:bodyPr wrap="square" lIns="0" tIns="0" rIns="0" bIns="0" rtlCol="0" anchor="t"/>
          <a:lstStyle/>
          <a:p>
            <a:pPr marL="0" indent="0" algn="l">
              <a:lnSpc>
                <a:spcPts val="2350"/>
              </a:lnSpc>
              <a:buNone/>
            </a:pPr>
            <a:r>
              <a:rPr lang="en-US" dirty="0">
                <a:solidFill>
                  <a:srgbClr val="5B5F71"/>
                </a:solidFill>
                <a:ea typeface="Instrument Sans Medium" pitchFamily="34" charset="-122"/>
                <a:cs typeface="Instrument Sans Medium" pitchFamily="34" charset="-120"/>
              </a:rPr>
              <a:t>Faced scrutiny over participation in government surveillance. Microsoft responded by increasing transparency through privacy reports and advocating for clearer legal frameworks.</a:t>
            </a:r>
            <a:endParaRPr lang="en-US" dirty="0"/>
          </a:p>
        </p:txBody>
      </p:sp>
      <p:pic>
        <p:nvPicPr>
          <p:cNvPr id="7" name="Image 1" descr="preencoded.png"/>
          <p:cNvPicPr>
            <a:picLocks noChangeAspect="1"/>
          </p:cNvPicPr>
          <p:nvPr/>
        </p:nvPicPr>
        <p:blipFill>
          <a:blip r:embed="rId4"/>
          <a:stretch>
            <a:fillRect/>
          </a:stretch>
        </p:blipFill>
        <p:spPr>
          <a:xfrm>
            <a:off x="7315200" y="2410778"/>
            <a:ext cx="6521410" cy="754142"/>
          </a:xfrm>
          <a:prstGeom prst="rect">
            <a:avLst/>
          </a:prstGeom>
        </p:spPr>
      </p:pic>
      <p:sp>
        <p:nvSpPr>
          <p:cNvPr id="8" name="Text 4"/>
          <p:cNvSpPr/>
          <p:nvPr/>
        </p:nvSpPr>
        <p:spPr>
          <a:xfrm>
            <a:off x="7503676" y="3353395"/>
            <a:ext cx="3396377" cy="294680"/>
          </a:xfrm>
          <a:prstGeom prst="rect">
            <a:avLst/>
          </a:prstGeom>
          <a:noFill/>
          <a:ln/>
        </p:spPr>
        <p:txBody>
          <a:bodyPr wrap="none" lIns="0" tIns="0" rIns="0" bIns="0" rtlCol="0" anchor="t"/>
          <a:lstStyle/>
          <a:p>
            <a:pPr marL="0" indent="0" algn="l">
              <a:lnSpc>
                <a:spcPts val="2300"/>
              </a:lnSpc>
              <a:buNone/>
            </a:pPr>
            <a:r>
              <a:rPr lang="en-US" dirty="0">
                <a:solidFill>
                  <a:srgbClr val="5B5F71"/>
                </a:solidFill>
                <a:ea typeface="Instrument Sans Semi Bold" pitchFamily="34" charset="-122"/>
                <a:cs typeface="Instrument Sans Semi Bold" pitchFamily="34" charset="-120"/>
              </a:rPr>
              <a:t>Harassment Allegations (2019)</a:t>
            </a:r>
            <a:endParaRPr lang="en-US" dirty="0"/>
          </a:p>
        </p:txBody>
      </p:sp>
      <p:sp>
        <p:nvSpPr>
          <p:cNvPr id="9" name="Text 5"/>
          <p:cNvSpPr/>
          <p:nvPr/>
        </p:nvSpPr>
        <p:spPr>
          <a:xfrm>
            <a:off x="7503676" y="3761184"/>
            <a:ext cx="6144458" cy="905113"/>
          </a:xfrm>
          <a:prstGeom prst="rect">
            <a:avLst/>
          </a:prstGeom>
          <a:noFill/>
          <a:ln/>
        </p:spPr>
        <p:txBody>
          <a:bodyPr wrap="square" lIns="0" tIns="0" rIns="0" bIns="0" rtlCol="0" anchor="t"/>
          <a:lstStyle/>
          <a:p>
            <a:pPr marL="0" indent="0" algn="l">
              <a:lnSpc>
                <a:spcPts val="2350"/>
              </a:lnSpc>
              <a:buNone/>
            </a:pPr>
            <a:r>
              <a:rPr lang="en-US" dirty="0">
                <a:solidFill>
                  <a:srgbClr val="5B5F71"/>
                </a:solidFill>
                <a:ea typeface="Instrument Sans Medium" pitchFamily="34" charset="-122"/>
                <a:cs typeface="Instrument Sans Medium" pitchFamily="34" charset="-120"/>
              </a:rPr>
              <a:t>Internal allegations led to investigations and significant reforms in HR policies, including improving complaint processes and promoting a more respectful workplace culture.</a:t>
            </a:r>
            <a:endParaRPr lang="en-US" dirty="0"/>
          </a:p>
        </p:txBody>
      </p:sp>
      <p:pic>
        <p:nvPicPr>
          <p:cNvPr id="10" name="Image 2" descr="preencoded.png"/>
          <p:cNvPicPr>
            <a:picLocks noChangeAspect="1"/>
          </p:cNvPicPr>
          <p:nvPr/>
        </p:nvPicPr>
        <p:blipFill>
          <a:blip r:embed="rId5"/>
          <a:stretch>
            <a:fillRect/>
          </a:stretch>
        </p:blipFill>
        <p:spPr>
          <a:xfrm>
            <a:off x="793790" y="4854773"/>
            <a:ext cx="6521410" cy="754142"/>
          </a:xfrm>
          <a:prstGeom prst="rect">
            <a:avLst/>
          </a:prstGeom>
        </p:spPr>
      </p:pic>
      <p:sp>
        <p:nvSpPr>
          <p:cNvPr id="11" name="Text 6"/>
          <p:cNvSpPr/>
          <p:nvPr/>
        </p:nvSpPr>
        <p:spPr>
          <a:xfrm>
            <a:off x="982266" y="5797391"/>
            <a:ext cx="2356842" cy="294680"/>
          </a:xfrm>
          <a:prstGeom prst="rect">
            <a:avLst/>
          </a:prstGeom>
          <a:noFill/>
          <a:ln/>
        </p:spPr>
        <p:txBody>
          <a:bodyPr wrap="none" lIns="0" tIns="0" rIns="0" bIns="0" rtlCol="0" anchor="t"/>
          <a:lstStyle/>
          <a:p>
            <a:pPr marL="0" indent="0" algn="l">
              <a:lnSpc>
                <a:spcPts val="2300"/>
              </a:lnSpc>
              <a:buNone/>
            </a:pPr>
            <a:r>
              <a:rPr lang="en-US" dirty="0">
                <a:solidFill>
                  <a:srgbClr val="5B5F71"/>
                </a:solidFill>
                <a:ea typeface="Instrument Sans Semi Bold" pitchFamily="34" charset="-122"/>
                <a:cs typeface="Instrument Sans Semi Bold" pitchFamily="34" charset="-120"/>
              </a:rPr>
              <a:t>JEDI Contract (2020)</a:t>
            </a:r>
            <a:endParaRPr lang="en-US" dirty="0"/>
          </a:p>
        </p:txBody>
      </p:sp>
      <p:sp>
        <p:nvSpPr>
          <p:cNvPr id="12" name="Text 7"/>
          <p:cNvSpPr/>
          <p:nvPr/>
        </p:nvSpPr>
        <p:spPr>
          <a:xfrm>
            <a:off x="982266" y="6205180"/>
            <a:ext cx="6144458" cy="1206818"/>
          </a:xfrm>
          <a:prstGeom prst="rect">
            <a:avLst/>
          </a:prstGeom>
          <a:noFill/>
          <a:ln/>
        </p:spPr>
        <p:txBody>
          <a:bodyPr wrap="square" lIns="0" tIns="0" rIns="0" bIns="0" rtlCol="0" anchor="t"/>
          <a:lstStyle/>
          <a:p>
            <a:pPr marL="0" indent="0" algn="l">
              <a:lnSpc>
                <a:spcPts val="2350"/>
              </a:lnSpc>
              <a:buNone/>
            </a:pPr>
            <a:r>
              <a:rPr lang="en-US" dirty="0">
                <a:solidFill>
                  <a:srgbClr val="5B5F71"/>
                </a:solidFill>
                <a:ea typeface="Instrument Sans Medium" pitchFamily="34" charset="-122"/>
                <a:cs typeface="Instrument Sans Medium" pitchFamily="34" charset="-120"/>
              </a:rPr>
              <a:t>The controversial military cloud contract raised ethical questions. Microsoft reiterated its commitment to ethical AI principles and responsible government technology use, while respecting legal obligations.</a:t>
            </a:r>
            <a:endParaRPr lang="en-US" dirty="0"/>
          </a:p>
        </p:txBody>
      </p:sp>
      <p:pic>
        <p:nvPicPr>
          <p:cNvPr id="13" name="Image 3" descr="preencoded.png"/>
          <p:cNvPicPr>
            <a:picLocks noChangeAspect="1"/>
          </p:cNvPicPr>
          <p:nvPr/>
        </p:nvPicPr>
        <p:blipFill>
          <a:blip r:embed="rId6"/>
          <a:stretch>
            <a:fillRect/>
          </a:stretch>
        </p:blipFill>
        <p:spPr>
          <a:xfrm>
            <a:off x="7315200" y="4854773"/>
            <a:ext cx="6521410" cy="754142"/>
          </a:xfrm>
          <a:prstGeom prst="rect">
            <a:avLst/>
          </a:prstGeom>
        </p:spPr>
      </p:pic>
      <p:sp>
        <p:nvSpPr>
          <p:cNvPr id="14" name="Text 8"/>
          <p:cNvSpPr/>
          <p:nvPr/>
        </p:nvSpPr>
        <p:spPr>
          <a:xfrm>
            <a:off x="7503676" y="5797391"/>
            <a:ext cx="2596872" cy="294680"/>
          </a:xfrm>
          <a:prstGeom prst="rect">
            <a:avLst/>
          </a:prstGeom>
          <a:noFill/>
          <a:ln/>
        </p:spPr>
        <p:txBody>
          <a:bodyPr wrap="none" lIns="0" tIns="0" rIns="0" bIns="0" rtlCol="0" anchor="t"/>
          <a:lstStyle/>
          <a:p>
            <a:pPr marL="0" indent="0" algn="l">
              <a:lnSpc>
                <a:spcPts val="2300"/>
              </a:lnSpc>
              <a:buNone/>
            </a:pPr>
            <a:r>
              <a:rPr lang="en-US" dirty="0">
                <a:solidFill>
                  <a:srgbClr val="5B5F71"/>
                </a:solidFill>
                <a:ea typeface="Instrument Sans Semi Bold" pitchFamily="34" charset="-122"/>
                <a:cs typeface="Instrument Sans Semi Bold" pitchFamily="34" charset="-120"/>
              </a:rPr>
              <a:t>Copilot IP Issues (2022)</a:t>
            </a:r>
            <a:endParaRPr lang="en-US" dirty="0"/>
          </a:p>
        </p:txBody>
      </p:sp>
      <p:sp>
        <p:nvSpPr>
          <p:cNvPr id="15" name="Text 9"/>
          <p:cNvSpPr/>
          <p:nvPr/>
        </p:nvSpPr>
        <p:spPr>
          <a:xfrm>
            <a:off x="7503676" y="6205180"/>
            <a:ext cx="6144458" cy="1206818"/>
          </a:xfrm>
          <a:prstGeom prst="rect">
            <a:avLst/>
          </a:prstGeom>
          <a:noFill/>
          <a:ln/>
        </p:spPr>
        <p:txBody>
          <a:bodyPr wrap="square" lIns="0" tIns="0" rIns="0" bIns="0" rtlCol="0" anchor="t"/>
          <a:lstStyle/>
          <a:p>
            <a:pPr marL="0" indent="0" algn="l">
              <a:lnSpc>
                <a:spcPts val="2350"/>
              </a:lnSpc>
              <a:buNone/>
            </a:pPr>
            <a:r>
              <a:rPr lang="en-US" dirty="0">
                <a:solidFill>
                  <a:srgbClr val="5B5F71"/>
                </a:solidFill>
                <a:ea typeface="Instrument Sans Medium" pitchFamily="34" charset="-122"/>
                <a:cs typeface="Instrument Sans Medium" pitchFamily="34" charset="-120"/>
              </a:rPr>
              <a:t>Concerns arose regarding the intellectual property implications of its AI coding assistant. Microsoft updated its policies, offering indemnification for copyright infringement claims and enhancing transparency in AI model training.</a:t>
            </a:r>
            <a:endParaRPr lang="en-US" dirty="0"/>
          </a:p>
        </p:txBody>
      </p:sp>
      <p:sp>
        <p:nvSpPr>
          <p:cNvPr id="16" name="Rectangle 15"/>
          <p:cNvSpPr/>
          <p:nvPr/>
        </p:nvSpPr>
        <p:spPr>
          <a:xfrm>
            <a:off x="12181668" y="7584399"/>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6590" y="1662193"/>
            <a:ext cx="9831092" cy="5529989"/>
          </a:xfrm>
          <a:prstGeom prst="rect">
            <a:avLst/>
          </a:prstGeom>
        </p:spPr>
      </p:pic>
      <p:sp>
        <p:nvSpPr>
          <p:cNvPr id="17" name="Rectangle 16"/>
          <p:cNvSpPr/>
          <p:nvPr/>
        </p:nvSpPr>
        <p:spPr>
          <a:xfrm>
            <a:off x="1730315" y="499802"/>
            <a:ext cx="10434075" cy="766748"/>
          </a:xfrm>
          <a:prstGeom prst="rect">
            <a:avLst/>
          </a:prstGeom>
        </p:spPr>
        <p:txBody>
          <a:bodyPr wrap="none">
            <a:spAutoFit/>
          </a:bodyPr>
          <a:lstStyle/>
          <a:p>
            <a:pPr algn="ctr">
              <a:lnSpc>
                <a:spcPts val="4850"/>
              </a:lnSpc>
            </a:pPr>
            <a:r>
              <a:rPr lang="en-US" sz="6000" b="1" dirty="0" smtClean="0">
                <a:solidFill>
                  <a:srgbClr val="505468"/>
                </a:solidFill>
                <a:latin typeface="+mj-lt"/>
                <a:ea typeface="Instrument Sans Semi Bold" pitchFamily="34" charset="-122"/>
                <a:cs typeface="Instrument Sans Semi Bold" pitchFamily="34" charset="-120"/>
              </a:rPr>
              <a:t>Growth Of  Microsoft Corporation</a:t>
            </a:r>
            <a:endParaRPr lang="en-US" sz="6000" b="1" dirty="0">
              <a:latin typeface="+mj-lt"/>
            </a:endParaRPr>
          </a:p>
        </p:txBody>
      </p:sp>
      <p:sp>
        <p:nvSpPr>
          <p:cNvPr id="4" name="Rectangle 3"/>
          <p:cNvSpPr/>
          <p:nvPr/>
        </p:nvSpPr>
        <p:spPr>
          <a:xfrm>
            <a:off x="12057682" y="7584399"/>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46743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3689" y="251829"/>
            <a:ext cx="7620000" cy="7620000"/>
          </a:xfrm>
          <a:prstGeom prst="rect">
            <a:avLst/>
          </a:prstGeom>
        </p:spPr>
      </p:pic>
      <p:sp>
        <p:nvSpPr>
          <p:cNvPr id="3" name="Rectangle 2"/>
          <p:cNvSpPr/>
          <p:nvPr/>
        </p:nvSpPr>
        <p:spPr>
          <a:xfrm>
            <a:off x="12181668" y="7619728"/>
            <a:ext cx="2448732" cy="5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90039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8534" y="318118"/>
            <a:ext cx="7516678" cy="707886"/>
          </a:xfrm>
          <a:prstGeom prst="rect">
            <a:avLst/>
          </a:prstGeom>
          <a:noFill/>
        </p:spPr>
        <p:txBody>
          <a:bodyPr wrap="square" rtlCol="0">
            <a:spAutoFit/>
          </a:bodyPr>
          <a:lstStyle/>
          <a:p>
            <a:pPr algn="ctr">
              <a:lnSpc>
                <a:spcPts val="4600"/>
              </a:lnSpc>
            </a:pPr>
            <a:r>
              <a:rPr lang="en-US" sz="4000" b="1" dirty="0" smtClean="0">
                <a:solidFill>
                  <a:srgbClr val="505468"/>
                </a:solidFill>
                <a:latin typeface="+mj-lt"/>
                <a:ea typeface="Instrument Sans Semi Bold" pitchFamily="34" charset="-122"/>
                <a:cs typeface="Instrument Sans Semi Bold" pitchFamily="34" charset="-120"/>
              </a:rPr>
              <a:t>Conclusion</a:t>
            </a:r>
            <a:endParaRPr lang="en-US" sz="4000" b="1" dirty="0">
              <a:latin typeface="+mj-lt"/>
            </a:endParaRPr>
          </a:p>
        </p:txBody>
      </p:sp>
      <p:sp>
        <p:nvSpPr>
          <p:cNvPr id="4" name="Rectangle 3"/>
          <p:cNvSpPr/>
          <p:nvPr/>
        </p:nvSpPr>
        <p:spPr>
          <a:xfrm>
            <a:off x="1394847" y="1056675"/>
            <a:ext cx="9884052" cy="584775"/>
          </a:xfrm>
          <a:prstGeom prst="rect">
            <a:avLst/>
          </a:prstGeom>
        </p:spPr>
        <p:txBody>
          <a:bodyPr wrap="none">
            <a:spAutoFit/>
          </a:bodyPr>
          <a:lstStyle/>
          <a:p>
            <a:r>
              <a:rPr lang="en-US" sz="3200" dirty="0">
                <a:solidFill>
                  <a:schemeClr val="tx1">
                    <a:lumMod val="65000"/>
                    <a:lumOff val="35000"/>
                  </a:schemeClr>
                </a:solidFill>
                <a:latin typeface="+mj-lt"/>
              </a:rPr>
              <a:t>Is the organization ethically responsible? Why or why not?</a:t>
            </a:r>
          </a:p>
        </p:txBody>
      </p:sp>
      <p:sp>
        <p:nvSpPr>
          <p:cNvPr id="5" name="Rectangle 4"/>
          <p:cNvSpPr/>
          <p:nvPr/>
        </p:nvSpPr>
        <p:spPr>
          <a:xfrm>
            <a:off x="1394847" y="1634893"/>
            <a:ext cx="7315200" cy="1200329"/>
          </a:xfrm>
          <a:prstGeom prst="rect">
            <a:avLst/>
          </a:prstGeom>
        </p:spPr>
        <p:txBody>
          <a:bodyPr>
            <a:spAutoFit/>
          </a:bodyPr>
          <a:lstStyle/>
          <a:p>
            <a:r>
              <a:rPr lang="en-US" dirty="0">
                <a:solidFill>
                  <a:schemeClr val="tx1">
                    <a:lumMod val="65000"/>
                    <a:lumOff val="35000"/>
                  </a:schemeClr>
                </a:solidFill>
              </a:rPr>
              <a:t>Yes, Microsoft is ethically responsible</a:t>
            </a:r>
            <a:r>
              <a:rPr lang="en-US" dirty="0" smtClean="0">
                <a:solidFill>
                  <a:schemeClr val="tx1">
                    <a:lumMod val="65000"/>
                    <a:lumOff val="35000"/>
                  </a:schemeClr>
                </a:solidFill>
              </a:rPr>
              <a:t>.</a:t>
            </a:r>
            <a:endParaRPr lang="en-US" sz="1600" dirty="0" smtClean="0">
              <a:solidFill>
                <a:schemeClr val="tx1">
                  <a:lumMod val="65000"/>
                  <a:lumOff val="35000"/>
                </a:schemeClr>
              </a:solidFill>
            </a:endParaRPr>
          </a:p>
          <a:p>
            <a:r>
              <a:rPr lang="en-US" dirty="0">
                <a:solidFill>
                  <a:schemeClr val="tx1">
                    <a:lumMod val="65000"/>
                    <a:lumOff val="35000"/>
                  </a:schemeClr>
                </a:solidFill>
              </a:rPr>
              <a:t/>
            </a:r>
            <a:br>
              <a:rPr lang="en-US" dirty="0">
                <a:solidFill>
                  <a:schemeClr val="tx1">
                    <a:lumMod val="65000"/>
                    <a:lumOff val="35000"/>
                  </a:schemeClr>
                </a:solidFill>
              </a:rPr>
            </a:br>
            <a:r>
              <a:rPr lang="en-US" dirty="0">
                <a:solidFill>
                  <a:schemeClr val="tx1">
                    <a:lumMod val="65000"/>
                    <a:lumOff val="35000"/>
                  </a:schemeClr>
                </a:solidFill>
              </a:rPr>
              <a:t>They follow strong values like honesty, respect, and fairness in how they run the company.</a:t>
            </a:r>
          </a:p>
        </p:txBody>
      </p:sp>
      <p:sp>
        <p:nvSpPr>
          <p:cNvPr id="6" name="Rectangle 5"/>
          <p:cNvSpPr/>
          <p:nvPr/>
        </p:nvSpPr>
        <p:spPr>
          <a:xfrm>
            <a:off x="1656385" y="4805890"/>
            <a:ext cx="1356077" cy="707886"/>
          </a:xfrm>
          <a:prstGeom prst="rect">
            <a:avLst/>
          </a:prstGeom>
        </p:spPr>
        <p:txBody>
          <a:bodyPr wrap="none">
            <a:spAutoFit/>
          </a:bodyPr>
          <a:lstStyle/>
          <a:p>
            <a:r>
              <a:rPr lang="en-US" sz="4000" dirty="0">
                <a:solidFill>
                  <a:schemeClr val="tx1">
                    <a:lumMod val="65000"/>
                    <a:lumOff val="35000"/>
                  </a:schemeClr>
                </a:solidFill>
                <a:latin typeface="+mj-lt"/>
              </a:rPr>
              <a:t>Why?</a:t>
            </a:r>
          </a:p>
        </p:txBody>
      </p:sp>
      <p:sp>
        <p:nvSpPr>
          <p:cNvPr id="7" name="Rectangle 6"/>
          <p:cNvSpPr/>
          <p:nvPr/>
        </p:nvSpPr>
        <p:spPr>
          <a:xfrm>
            <a:off x="3963699" y="3058954"/>
            <a:ext cx="7315200" cy="5170646"/>
          </a:xfrm>
          <a:prstGeom prst="rect">
            <a:avLst/>
          </a:prstGeom>
        </p:spPr>
        <p:txBody>
          <a:bodyPr>
            <a:spAutoFit/>
          </a:bodyPr>
          <a:lstStyle/>
          <a:p>
            <a:r>
              <a:rPr lang="en-US" dirty="0">
                <a:solidFill>
                  <a:schemeClr val="tx1">
                    <a:lumMod val="65000"/>
                    <a:lumOff val="35000"/>
                  </a:schemeClr>
                </a:solidFill>
              </a:rPr>
              <a:t>🔹 </a:t>
            </a:r>
            <a:r>
              <a:rPr lang="en-US" b="1" dirty="0">
                <a:solidFill>
                  <a:schemeClr val="tx1">
                    <a:lumMod val="65000"/>
                    <a:lumOff val="35000"/>
                  </a:schemeClr>
                </a:solidFill>
              </a:rPr>
              <a:t>Clear Rules and Training:</a:t>
            </a:r>
            <a:r>
              <a:rPr lang="en-US" dirty="0">
                <a:solidFill>
                  <a:schemeClr val="tx1">
                    <a:lumMod val="65000"/>
                    <a:lumOff val="35000"/>
                  </a:schemeClr>
                </a:solidFill>
              </a:rPr>
              <a:t/>
            </a:r>
            <a:br>
              <a:rPr lang="en-US" dirty="0">
                <a:solidFill>
                  <a:schemeClr val="tx1">
                    <a:lumMod val="65000"/>
                    <a:lumOff val="35000"/>
                  </a:schemeClr>
                </a:solidFill>
              </a:rPr>
            </a:br>
            <a:r>
              <a:rPr lang="en-US" dirty="0">
                <a:solidFill>
                  <a:schemeClr val="tx1">
                    <a:lumMod val="65000"/>
                    <a:lumOff val="35000"/>
                  </a:schemeClr>
                </a:solidFill>
              </a:rPr>
              <a:t>They have a clear code of conduct, and all employees get ethics training</a:t>
            </a:r>
            <a:r>
              <a:rPr lang="en-US" dirty="0" smtClean="0">
                <a:solidFill>
                  <a:schemeClr val="tx1">
                    <a:lumMod val="65000"/>
                    <a:lumOff val="35000"/>
                  </a:schemeClr>
                </a:solidFill>
              </a:rPr>
              <a:t>.</a:t>
            </a:r>
          </a:p>
          <a:p>
            <a:endParaRPr lang="en-US" sz="1200" dirty="0">
              <a:solidFill>
                <a:schemeClr val="tx1">
                  <a:lumMod val="65000"/>
                  <a:lumOff val="35000"/>
                </a:schemeClr>
              </a:solidFill>
            </a:endParaRPr>
          </a:p>
          <a:p>
            <a:r>
              <a:rPr lang="en-US" dirty="0">
                <a:solidFill>
                  <a:schemeClr val="tx1">
                    <a:lumMod val="65000"/>
                    <a:lumOff val="35000"/>
                  </a:schemeClr>
                </a:solidFill>
              </a:rPr>
              <a:t>🔹 </a:t>
            </a:r>
            <a:r>
              <a:rPr lang="en-US" b="1" dirty="0">
                <a:solidFill>
                  <a:schemeClr val="tx1">
                    <a:lumMod val="65000"/>
                    <a:lumOff val="35000"/>
                  </a:schemeClr>
                </a:solidFill>
              </a:rPr>
              <a:t>Privacy and Safety:</a:t>
            </a:r>
            <a:r>
              <a:rPr lang="en-US" dirty="0">
                <a:solidFill>
                  <a:schemeClr val="tx1">
                    <a:lumMod val="65000"/>
                    <a:lumOff val="35000"/>
                  </a:schemeClr>
                </a:solidFill>
              </a:rPr>
              <a:t/>
            </a:r>
            <a:br>
              <a:rPr lang="en-US" dirty="0">
                <a:solidFill>
                  <a:schemeClr val="tx1">
                    <a:lumMod val="65000"/>
                    <a:lumOff val="35000"/>
                  </a:schemeClr>
                </a:solidFill>
              </a:rPr>
            </a:br>
            <a:r>
              <a:rPr lang="en-US" dirty="0">
                <a:solidFill>
                  <a:schemeClr val="tx1">
                    <a:lumMod val="65000"/>
                    <a:lumOff val="35000"/>
                  </a:schemeClr>
                </a:solidFill>
              </a:rPr>
              <a:t>They protect user data and follow rules like GDPR. They are open about how they use data</a:t>
            </a:r>
            <a:r>
              <a:rPr lang="en-US" dirty="0" smtClean="0">
                <a:solidFill>
                  <a:schemeClr val="tx1">
                    <a:lumMod val="65000"/>
                    <a:lumOff val="35000"/>
                  </a:schemeClr>
                </a:solidFill>
              </a:rPr>
              <a:t>.</a:t>
            </a:r>
          </a:p>
          <a:p>
            <a:endParaRPr lang="en-US" sz="1200" dirty="0">
              <a:solidFill>
                <a:schemeClr val="tx1">
                  <a:lumMod val="65000"/>
                  <a:lumOff val="35000"/>
                </a:schemeClr>
              </a:solidFill>
            </a:endParaRPr>
          </a:p>
          <a:p>
            <a:r>
              <a:rPr lang="en-US" dirty="0">
                <a:solidFill>
                  <a:schemeClr val="tx1">
                    <a:lumMod val="65000"/>
                    <a:lumOff val="35000"/>
                  </a:schemeClr>
                </a:solidFill>
              </a:rPr>
              <a:t>🔹 </a:t>
            </a:r>
            <a:r>
              <a:rPr lang="en-US" b="1" dirty="0">
                <a:solidFill>
                  <a:schemeClr val="tx1">
                    <a:lumMod val="65000"/>
                    <a:lumOff val="35000"/>
                  </a:schemeClr>
                </a:solidFill>
              </a:rPr>
              <a:t>Helping Society:</a:t>
            </a:r>
            <a:r>
              <a:rPr lang="en-US" dirty="0">
                <a:solidFill>
                  <a:schemeClr val="tx1">
                    <a:lumMod val="65000"/>
                    <a:lumOff val="35000"/>
                  </a:schemeClr>
                </a:solidFill>
              </a:rPr>
              <a:t/>
            </a:r>
            <a:br>
              <a:rPr lang="en-US" dirty="0">
                <a:solidFill>
                  <a:schemeClr val="tx1">
                    <a:lumMod val="65000"/>
                    <a:lumOff val="35000"/>
                  </a:schemeClr>
                </a:solidFill>
              </a:rPr>
            </a:br>
            <a:r>
              <a:rPr lang="en-US" dirty="0">
                <a:solidFill>
                  <a:schemeClr val="tx1">
                    <a:lumMod val="65000"/>
                    <a:lumOff val="35000"/>
                  </a:schemeClr>
                </a:solidFill>
              </a:rPr>
              <a:t>They support education, donate to charities, and make technology more accessible to everyone</a:t>
            </a:r>
            <a:r>
              <a:rPr lang="en-US" dirty="0" smtClean="0">
                <a:solidFill>
                  <a:schemeClr val="tx1">
                    <a:lumMod val="65000"/>
                    <a:lumOff val="35000"/>
                  </a:schemeClr>
                </a:solidFill>
              </a:rPr>
              <a:t>.</a:t>
            </a:r>
          </a:p>
          <a:p>
            <a:endParaRPr lang="en-US" sz="1200" dirty="0">
              <a:solidFill>
                <a:schemeClr val="tx1">
                  <a:lumMod val="65000"/>
                  <a:lumOff val="35000"/>
                </a:schemeClr>
              </a:solidFill>
            </a:endParaRPr>
          </a:p>
          <a:p>
            <a:r>
              <a:rPr lang="en-US" dirty="0">
                <a:solidFill>
                  <a:schemeClr val="tx1">
                    <a:lumMod val="65000"/>
                    <a:lumOff val="35000"/>
                  </a:schemeClr>
                </a:solidFill>
              </a:rPr>
              <a:t>🔹 </a:t>
            </a:r>
            <a:r>
              <a:rPr lang="en-US" b="1" dirty="0">
                <a:solidFill>
                  <a:schemeClr val="tx1">
                    <a:lumMod val="65000"/>
                    <a:lumOff val="35000"/>
                  </a:schemeClr>
                </a:solidFill>
              </a:rPr>
              <a:t>Caring for the Environment:</a:t>
            </a:r>
            <a:r>
              <a:rPr lang="en-US" dirty="0">
                <a:solidFill>
                  <a:schemeClr val="tx1">
                    <a:lumMod val="65000"/>
                    <a:lumOff val="35000"/>
                  </a:schemeClr>
                </a:solidFill>
              </a:rPr>
              <a:t/>
            </a:r>
            <a:br>
              <a:rPr lang="en-US" dirty="0">
                <a:solidFill>
                  <a:schemeClr val="tx1">
                    <a:lumMod val="65000"/>
                    <a:lumOff val="35000"/>
                  </a:schemeClr>
                </a:solidFill>
              </a:rPr>
            </a:br>
            <a:r>
              <a:rPr lang="en-US" dirty="0">
                <a:solidFill>
                  <a:schemeClr val="tx1">
                    <a:lumMod val="65000"/>
                    <a:lumOff val="35000"/>
                  </a:schemeClr>
                </a:solidFill>
              </a:rPr>
              <a:t>They aim to reduce pollution and use clean energy</a:t>
            </a:r>
            <a:r>
              <a:rPr lang="en-US" dirty="0" smtClean="0">
                <a:solidFill>
                  <a:schemeClr val="tx1">
                    <a:lumMod val="65000"/>
                    <a:lumOff val="35000"/>
                  </a:schemeClr>
                </a:solidFill>
              </a:rPr>
              <a:t>.</a:t>
            </a:r>
          </a:p>
          <a:p>
            <a:endParaRPr lang="en-US" sz="1200" dirty="0">
              <a:solidFill>
                <a:schemeClr val="tx1">
                  <a:lumMod val="65000"/>
                  <a:lumOff val="35000"/>
                </a:schemeClr>
              </a:solidFill>
            </a:endParaRPr>
          </a:p>
          <a:p>
            <a:r>
              <a:rPr lang="en-US" dirty="0">
                <a:solidFill>
                  <a:schemeClr val="tx1">
                    <a:lumMod val="65000"/>
                    <a:lumOff val="35000"/>
                  </a:schemeClr>
                </a:solidFill>
              </a:rPr>
              <a:t>🔹 </a:t>
            </a:r>
            <a:r>
              <a:rPr lang="en-US" b="1" dirty="0">
                <a:solidFill>
                  <a:schemeClr val="tx1">
                    <a:lumMod val="65000"/>
                    <a:lumOff val="35000"/>
                  </a:schemeClr>
                </a:solidFill>
              </a:rPr>
              <a:t>Diversity and Fairness:</a:t>
            </a:r>
            <a:r>
              <a:rPr lang="en-US" dirty="0">
                <a:solidFill>
                  <a:schemeClr val="tx1">
                    <a:lumMod val="65000"/>
                    <a:lumOff val="35000"/>
                  </a:schemeClr>
                </a:solidFill>
              </a:rPr>
              <a:t/>
            </a:r>
            <a:br>
              <a:rPr lang="en-US" dirty="0">
                <a:solidFill>
                  <a:schemeClr val="tx1">
                    <a:lumMod val="65000"/>
                    <a:lumOff val="35000"/>
                  </a:schemeClr>
                </a:solidFill>
              </a:rPr>
            </a:br>
            <a:r>
              <a:rPr lang="en-US" dirty="0">
                <a:solidFill>
                  <a:schemeClr val="tx1">
                    <a:lumMod val="65000"/>
                    <a:lumOff val="35000"/>
                  </a:schemeClr>
                </a:solidFill>
              </a:rPr>
              <a:t>They support equal opportunities and respect for all employees</a:t>
            </a:r>
            <a:r>
              <a:rPr lang="en-US" dirty="0" smtClean="0">
                <a:solidFill>
                  <a:schemeClr val="tx1">
                    <a:lumMod val="65000"/>
                    <a:lumOff val="35000"/>
                  </a:schemeClr>
                </a:solidFill>
              </a:rPr>
              <a:t>.</a:t>
            </a:r>
          </a:p>
          <a:p>
            <a:endParaRPr lang="en-US" sz="1200" dirty="0">
              <a:solidFill>
                <a:schemeClr val="tx1">
                  <a:lumMod val="65000"/>
                  <a:lumOff val="35000"/>
                </a:schemeClr>
              </a:solidFill>
            </a:endParaRPr>
          </a:p>
          <a:p>
            <a:r>
              <a:rPr lang="en-US" dirty="0">
                <a:solidFill>
                  <a:schemeClr val="tx1">
                    <a:lumMod val="65000"/>
                    <a:lumOff val="35000"/>
                  </a:schemeClr>
                </a:solidFill>
              </a:rPr>
              <a:t>🔹 </a:t>
            </a:r>
            <a:r>
              <a:rPr lang="en-US" b="1" dirty="0">
                <a:solidFill>
                  <a:schemeClr val="tx1">
                    <a:lumMod val="65000"/>
                    <a:lumOff val="35000"/>
                  </a:schemeClr>
                </a:solidFill>
              </a:rPr>
              <a:t>Learning from Mistakes:</a:t>
            </a:r>
            <a:r>
              <a:rPr lang="en-US" dirty="0">
                <a:solidFill>
                  <a:schemeClr val="tx1">
                    <a:lumMod val="65000"/>
                    <a:lumOff val="35000"/>
                  </a:schemeClr>
                </a:solidFill>
              </a:rPr>
              <a:t/>
            </a:r>
            <a:br>
              <a:rPr lang="en-US" dirty="0">
                <a:solidFill>
                  <a:schemeClr val="tx1">
                    <a:lumMod val="65000"/>
                    <a:lumOff val="35000"/>
                  </a:schemeClr>
                </a:solidFill>
              </a:rPr>
            </a:br>
            <a:r>
              <a:rPr lang="en-US" dirty="0">
                <a:solidFill>
                  <a:schemeClr val="tx1">
                    <a:lumMod val="65000"/>
                    <a:lumOff val="35000"/>
                  </a:schemeClr>
                </a:solidFill>
              </a:rPr>
              <a:t>When problems happen, like privacy or workplace issues, Microsoft investigates and improves their policies.</a:t>
            </a:r>
          </a:p>
        </p:txBody>
      </p:sp>
    </p:spTree>
    <p:extLst>
      <p:ext uri="{BB962C8B-B14F-4D97-AF65-F5344CB8AC3E}">
        <p14:creationId xmlns:p14="http://schemas.microsoft.com/office/powerpoint/2010/main" val="20493818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25080" y="443016"/>
            <a:ext cx="2782428" cy="923330"/>
          </a:xfrm>
          <a:prstGeom prst="rect">
            <a:avLst/>
          </a:prstGeom>
        </p:spPr>
        <p:txBody>
          <a:bodyPr wrap="none">
            <a:spAutoFit/>
          </a:bodyPr>
          <a:lstStyle/>
          <a:p>
            <a:pPr algn="ctr"/>
            <a:r>
              <a:rPr lang="en-US" sz="5400" b="1" dirty="0">
                <a:solidFill>
                  <a:srgbClr val="505468"/>
                </a:solidFill>
                <a:latin typeface="+mj-lt"/>
                <a:ea typeface="Instrument Sans Semi Bold" pitchFamily="34" charset="-122"/>
                <a:cs typeface="Instrument Sans Semi Bold" pitchFamily="34" charset="-120"/>
              </a:rPr>
              <a:t>G</a:t>
            </a:r>
            <a:r>
              <a:rPr lang="en-US" sz="5400" b="1" dirty="0" smtClean="0">
                <a:solidFill>
                  <a:srgbClr val="505468"/>
                </a:solidFill>
                <a:latin typeface="+mj-lt"/>
                <a:ea typeface="Instrument Sans Semi Bold" pitchFamily="34" charset="-122"/>
                <a:cs typeface="Instrument Sans Semi Bold" pitchFamily="34" charset="-120"/>
              </a:rPr>
              <a:t>roup 06</a:t>
            </a:r>
            <a:endParaRPr lang="en-US" sz="5400" b="1" dirty="0">
              <a:latin typeface="+mj-lt"/>
            </a:endParaRPr>
          </a:p>
        </p:txBody>
      </p:sp>
      <p:sp>
        <p:nvSpPr>
          <p:cNvPr id="5" name="Rectangle 4"/>
          <p:cNvSpPr/>
          <p:nvPr/>
        </p:nvSpPr>
        <p:spPr>
          <a:xfrm>
            <a:off x="615366" y="1715823"/>
            <a:ext cx="3157467" cy="584775"/>
          </a:xfrm>
          <a:prstGeom prst="rect">
            <a:avLst/>
          </a:prstGeom>
        </p:spPr>
        <p:txBody>
          <a:bodyPr wrap="none">
            <a:spAutoFit/>
          </a:bodyPr>
          <a:lstStyle/>
          <a:p>
            <a:pPr algn="ctr"/>
            <a:r>
              <a:rPr lang="en-US" sz="3200" dirty="0">
                <a:solidFill>
                  <a:srgbClr val="505468"/>
                </a:solidFill>
                <a:ea typeface="Instrument Sans Semi Bold" pitchFamily="34" charset="-122"/>
                <a:cs typeface="Instrument Sans Semi Bold" pitchFamily="34" charset="-120"/>
              </a:rPr>
              <a:t>Group </a:t>
            </a:r>
            <a:r>
              <a:rPr lang="en-US" sz="3200" dirty="0" smtClean="0">
                <a:solidFill>
                  <a:srgbClr val="505468"/>
                </a:solidFill>
                <a:ea typeface="Instrument Sans Semi Bold" pitchFamily="34" charset="-122"/>
                <a:cs typeface="Instrument Sans Semi Bold" pitchFamily="34" charset="-120"/>
              </a:rPr>
              <a:t>Members:-</a:t>
            </a:r>
            <a:endParaRPr lang="en-US" sz="3200" dirty="0"/>
          </a:p>
        </p:txBody>
      </p:sp>
      <p:sp>
        <p:nvSpPr>
          <p:cNvPr id="6" name="Rectangle 5"/>
          <p:cNvSpPr/>
          <p:nvPr/>
        </p:nvSpPr>
        <p:spPr>
          <a:xfrm>
            <a:off x="615366" y="2953238"/>
            <a:ext cx="6151492" cy="6217087"/>
          </a:xfrm>
          <a:prstGeom prst="rect">
            <a:avLst/>
          </a:prstGeom>
        </p:spPr>
        <p:txBody>
          <a:bodyPr wrap="none">
            <a:spAutoFit/>
          </a:bodyPr>
          <a:lstStyle/>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12 </a:t>
            </a:r>
            <a:r>
              <a:rPr lang="en-US" sz="2800" dirty="0">
                <a:solidFill>
                  <a:schemeClr val="tx1">
                    <a:lumMod val="65000"/>
                    <a:lumOff val="35000"/>
                  </a:schemeClr>
                </a:solidFill>
              </a:rPr>
              <a:t>- </a:t>
            </a:r>
            <a:r>
              <a:rPr lang="en-US" sz="2800" dirty="0" err="1" smtClean="0">
                <a:solidFill>
                  <a:schemeClr val="tx1">
                    <a:lumMod val="65000"/>
                    <a:lumOff val="35000"/>
                  </a:schemeClr>
                </a:solidFill>
              </a:rPr>
              <a:t>J.H.A.Jayalath</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smtClean="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14 </a:t>
            </a:r>
            <a:r>
              <a:rPr lang="en-US" sz="2800" dirty="0">
                <a:solidFill>
                  <a:schemeClr val="tx1">
                    <a:lumMod val="65000"/>
                    <a:lumOff val="35000"/>
                  </a:schemeClr>
                </a:solidFill>
              </a:rPr>
              <a:t>- </a:t>
            </a:r>
            <a:r>
              <a:rPr lang="en-US" sz="2800" dirty="0" err="1" smtClean="0">
                <a:solidFill>
                  <a:schemeClr val="tx1">
                    <a:lumMod val="65000"/>
                    <a:lumOff val="35000"/>
                  </a:schemeClr>
                </a:solidFill>
              </a:rPr>
              <a:t>N.G.H.A.Weerasinghe</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smtClean="0">
              <a:solidFill>
                <a:schemeClr val="tx1">
                  <a:lumMod val="65000"/>
                  <a:lumOff val="35000"/>
                </a:schemeClr>
              </a:solidFill>
            </a:endParaRPr>
          </a:p>
          <a:p>
            <a:pPr marL="457200" indent="-457200">
              <a:buFont typeface="Wingdings" panose="05000000000000000000" pitchFamily="2" charset="2"/>
              <a:buChar char="Ø"/>
            </a:pPr>
            <a:r>
              <a:rPr lang="en-US" sz="2800" dirty="0" smtClean="0">
                <a:solidFill>
                  <a:schemeClr val="tx1">
                    <a:lumMod val="65000"/>
                    <a:lumOff val="35000"/>
                  </a:schemeClr>
                </a:solidFill>
                <a:ea typeface="Instrument Sans Semi Bold" pitchFamily="34" charset="-122"/>
                <a:cs typeface="Instrument Sans Semi Bold" pitchFamily="34" charset="-120"/>
              </a:rPr>
              <a:t>2020/ICTS/23-D.M.D.Danthanarayana</a:t>
            </a:r>
          </a:p>
          <a:p>
            <a:pPr marL="285750" indent="-285750">
              <a:buFont typeface="Wingdings" panose="05000000000000000000" pitchFamily="2" charset="2"/>
              <a:buChar char="Ø"/>
            </a:pPr>
            <a:endParaRPr lang="en-US" dirty="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42 </a:t>
            </a:r>
            <a:r>
              <a:rPr lang="en-US" sz="2800" dirty="0">
                <a:solidFill>
                  <a:schemeClr val="tx1">
                    <a:lumMod val="65000"/>
                    <a:lumOff val="35000"/>
                  </a:schemeClr>
                </a:solidFill>
              </a:rPr>
              <a:t>- W.M.M. </a:t>
            </a:r>
            <a:r>
              <a:rPr lang="en-US" sz="2800" dirty="0" err="1" smtClean="0">
                <a:solidFill>
                  <a:schemeClr val="tx1">
                    <a:lumMod val="65000"/>
                    <a:lumOff val="35000"/>
                  </a:schemeClr>
                </a:solidFill>
              </a:rPr>
              <a:t>Tharaka</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44 – </a:t>
            </a:r>
            <a:r>
              <a:rPr lang="en-US" sz="2800" dirty="0" err="1" smtClean="0">
                <a:solidFill>
                  <a:schemeClr val="tx1">
                    <a:lumMod val="65000"/>
                    <a:lumOff val="35000"/>
                  </a:schemeClr>
                </a:solidFill>
              </a:rPr>
              <a:t>K.A.R.Deshani</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smtClean="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47 </a:t>
            </a:r>
            <a:r>
              <a:rPr lang="en-US" sz="2800" dirty="0">
                <a:solidFill>
                  <a:schemeClr val="tx1">
                    <a:lumMod val="65000"/>
                    <a:lumOff val="35000"/>
                  </a:schemeClr>
                </a:solidFill>
              </a:rPr>
              <a:t>- B.T.S. </a:t>
            </a:r>
            <a:r>
              <a:rPr lang="en-US" sz="2800" dirty="0" err="1" smtClean="0">
                <a:solidFill>
                  <a:schemeClr val="tx1">
                    <a:lumMod val="65000"/>
                    <a:lumOff val="35000"/>
                  </a:schemeClr>
                </a:solidFill>
              </a:rPr>
              <a:t>Hansana</a:t>
            </a:r>
            <a:endParaRPr lang="en-US" sz="2800" dirty="0" smtClean="0">
              <a:solidFill>
                <a:schemeClr val="tx1">
                  <a:lumMod val="65000"/>
                  <a:lumOff val="35000"/>
                </a:schemeClr>
              </a:solidFill>
            </a:endParaRPr>
          </a:p>
          <a:p>
            <a:endParaRPr lang="en-US" sz="2800" dirty="0">
              <a:solidFill>
                <a:schemeClr val="tx1">
                  <a:lumMod val="65000"/>
                  <a:lumOff val="35000"/>
                </a:schemeClr>
              </a:solidFill>
            </a:endParaRPr>
          </a:p>
          <a:p>
            <a:endParaRPr lang="en-US" sz="2800" dirty="0">
              <a:solidFill>
                <a:schemeClr val="tx1">
                  <a:lumMod val="65000"/>
                  <a:lumOff val="35000"/>
                </a:schemeClr>
              </a:solidFill>
            </a:endParaRPr>
          </a:p>
          <a:p>
            <a:endParaRPr lang="en-US" sz="2800" dirty="0">
              <a:solidFill>
                <a:schemeClr val="tx1">
                  <a:lumMod val="65000"/>
                  <a:lumOff val="35000"/>
                </a:schemeClr>
              </a:solidFill>
            </a:endParaRPr>
          </a:p>
          <a:p>
            <a:endParaRPr lang="en-US" sz="2800" dirty="0">
              <a:solidFill>
                <a:schemeClr val="tx1">
                  <a:lumMod val="65000"/>
                  <a:lumOff val="35000"/>
                </a:schemeClr>
              </a:solidFill>
            </a:endParaRPr>
          </a:p>
          <a:p>
            <a:endParaRPr lang="en-US" sz="2800" dirty="0">
              <a:solidFill>
                <a:schemeClr val="tx1">
                  <a:lumMod val="65000"/>
                  <a:lumOff val="35000"/>
                </a:schemeClr>
              </a:solidFill>
            </a:endParaRPr>
          </a:p>
        </p:txBody>
      </p:sp>
      <p:sp>
        <p:nvSpPr>
          <p:cNvPr id="10" name="TextBox 9"/>
          <p:cNvSpPr txBox="1"/>
          <p:nvPr/>
        </p:nvSpPr>
        <p:spPr>
          <a:xfrm>
            <a:off x="7253207" y="2953238"/>
            <a:ext cx="7237707" cy="4493538"/>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50 </a:t>
            </a:r>
            <a:r>
              <a:rPr lang="en-US" sz="2800" dirty="0">
                <a:solidFill>
                  <a:schemeClr val="tx1">
                    <a:lumMod val="65000"/>
                    <a:lumOff val="35000"/>
                  </a:schemeClr>
                </a:solidFill>
              </a:rPr>
              <a:t>- </a:t>
            </a:r>
            <a:r>
              <a:rPr lang="en-US" sz="2800" dirty="0" err="1" smtClean="0">
                <a:solidFill>
                  <a:schemeClr val="tx1">
                    <a:lumMod val="65000"/>
                    <a:lumOff val="35000"/>
                  </a:schemeClr>
                </a:solidFill>
              </a:rPr>
              <a:t>R.M.R.R.Gunasundara</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57 </a:t>
            </a:r>
            <a:r>
              <a:rPr lang="en-US" sz="2800" dirty="0">
                <a:solidFill>
                  <a:schemeClr val="tx1">
                    <a:lumMod val="65000"/>
                    <a:lumOff val="35000"/>
                  </a:schemeClr>
                </a:solidFill>
              </a:rPr>
              <a:t>- </a:t>
            </a:r>
            <a:r>
              <a:rPr lang="en-US" sz="2800" dirty="0" err="1" smtClean="0">
                <a:solidFill>
                  <a:schemeClr val="tx1">
                    <a:lumMod val="65000"/>
                    <a:lumOff val="35000"/>
                  </a:schemeClr>
                </a:solidFill>
              </a:rPr>
              <a:t>M.A.K.D.Alahendra</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61 </a:t>
            </a:r>
            <a:r>
              <a:rPr lang="en-US" sz="2800" dirty="0">
                <a:solidFill>
                  <a:schemeClr val="tx1">
                    <a:lumMod val="65000"/>
                    <a:lumOff val="35000"/>
                  </a:schemeClr>
                </a:solidFill>
              </a:rPr>
              <a:t>- S.A.C. </a:t>
            </a:r>
            <a:r>
              <a:rPr lang="en-US" sz="2800" dirty="0" err="1" smtClean="0">
                <a:solidFill>
                  <a:schemeClr val="tx1">
                    <a:lumMod val="65000"/>
                    <a:lumOff val="35000"/>
                  </a:schemeClr>
                </a:solidFill>
              </a:rPr>
              <a:t>Jayanga</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113- </a:t>
            </a:r>
            <a:r>
              <a:rPr lang="en-US" sz="2800" dirty="0" err="1" smtClean="0">
                <a:solidFill>
                  <a:schemeClr val="tx1">
                    <a:lumMod val="65000"/>
                    <a:lumOff val="35000"/>
                  </a:schemeClr>
                </a:solidFill>
              </a:rPr>
              <a:t>K.A.A.V.N.Kahadawa</a:t>
            </a:r>
            <a:endParaRPr lang="en-US" sz="2800" dirty="0" smtClean="0">
              <a:solidFill>
                <a:schemeClr val="tx1">
                  <a:lumMod val="65000"/>
                  <a:lumOff val="35000"/>
                </a:schemeClr>
              </a:solidFill>
            </a:endParaRPr>
          </a:p>
          <a:p>
            <a:pPr marL="285750" indent="-285750">
              <a:buFont typeface="Wingdings" panose="05000000000000000000" pitchFamily="2" charset="2"/>
              <a:buChar char="Ø"/>
            </a:pPr>
            <a:endParaRPr lang="en-US" dirty="0">
              <a:solidFill>
                <a:schemeClr val="tx1">
                  <a:lumMod val="65000"/>
                  <a:lumOff val="35000"/>
                </a:schemeClr>
              </a:solidFill>
            </a:endParaRPr>
          </a:p>
          <a:p>
            <a:pPr marL="457200" indent="-457200">
              <a:buFont typeface="Wingdings" panose="05000000000000000000" pitchFamily="2" charset="2"/>
              <a:buChar char="Ø"/>
            </a:pPr>
            <a:r>
              <a:rPr lang="en-US" sz="2800" dirty="0" smtClean="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127-J.M.T.H.Jayasundara</a:t>
            </a:r>
          </a:p>
          <a:p>
            <a:pPr marL="285750" indent="-285750">
              <a:buFont typeface="Wingdings" panose="05000000000000000000" pitchFamily="2" charset="2"/>
              <a:buChar char="Ø"/>
            </a:pPr>
            <a:endParaRPr lang="en-US" dirty="0">
              <a:solidFill>
                <a:schemeClr val="tx1">
                  <a:lumMod val="65000"/>
                  <a:lumOff val="35000"/>
                </a:schemeClr>
              </a:solidFill>
            </a:endParaRPr>
          </a:p>
          <a:p>
            <a:pPr marL="457200" indent="-457200">
              <a:buFont typeface="Wingdings" panose="05000000000000000000" pitchFamily="2" charset="2"/>
              <a:buChar char="Ø"/>
            </a:pPr>
            <a:r>
              <a:rPr lang="en-US" sz="2800" dirty="0">
                <a:solidFill>
                  <a:schemeClr val="tx1">
                    <a:lumMod val="65000"/>
                    <a:lumOff val="35000"/>
                  </a:schemeClr>
                </a:solidFill>
                <a:ea typeface="Instrument Sans Semi Bold" pitchFamily="34" charset="-122"/>
                <a:cs typeface="Instrument Sans Semi Bold" pitchFamily="34" charset="-120"/>
              </a:rPr>
              <a:t>2020/ICTS/</a:t>
            </a:r>
            <a:r>
              <a:rPr lang="en-US" sz="2800" dirty="0" smtClean="0">
                <a:solidFill>
                  <a:schemeClr val="tx1">
                    <a:lumMod val="65000"/>
                    <a:lumOff val="35000"/>
                  </a:schemeClr>
                </a:solidFill>
              </a:rPr>
              <a:t>147 </a:t>
            </a:r>
            <a:r>
              <a:rPr lang="en-US" sz="2800" dirty="0">
                <a:solidFill>
                  <a:schemeClr val="tx1">
                    <a:lumMod val="65000"/>
                    <a:lumOff val="35000"/>
                  </a:schemeClr>
                </a:solidFill>
              </a:rPr>
              <a:t>- R.M.P.G.V.S. </a:t>
            </a:r>
            <a:r>
              <a:rPr lang="en-US" sz="2800" dirty="0" err="1">
                <a:solidFill>
                  <a:schemeClr val="tx1">
                    <a:lumMod val="65000"/>
                    <a:lumOff val="35000"/>
                  </a:schemeClr>
                </a:solidFill>
              </a:rPr>
              <a:t>Dissanayake</a:t>
            </a:r>
            <a:endParaRPr lang="en-US" sz="2800" dirty="0">
              <a:solidFill>
                <a:schemeClr val="tx1">
                  <a:lumMod val="65000"/>
                  <a:lumOff val="35000"/>
                </a:schemeClr>
              </a:solidFill>
            </a:endParaRPr>
          </a:p>
          <a:p>
            <a:pPr marL="457200" indent="-457200">
              <a:buFont typeface="Wingdings" panose="05000000000000000000" pitchFamily="2" charset="2"/>
              <a:buChar char="Ø"/>
            </a:pPr>
            <a:endParaRPr lang="en-US" sz="2800" dirty="0">
              <a:solidFill>
                <a:schemeClr val="tx1">
                  <a:lumMod val="65000"/>
                  <a:lumOff val="35000"/>
                </a:schemeClr>
              </a:solidFill>
            </a:endParaRPr>
          </a:p>
        </p:txBody>
      </p:sp>
    </p:spTree>
    <p:extLst>
      <p:ext uri="{BB962C8B-B14F-4D97-AF65-F5344CB8AC3E}">
        <p14:creationId xmlns:p14="http://schemas.microsoft.com/office/powerpoint/2010/main" val="21456717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1449</Words>
  <Application>Microsoft Office PowerPoint</Application>
  <PresentationFormat>Custom</PresentationFormat>
  <Paragraphs>147</Paragraphs>
  <Slides>14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 Black</vt:lpstr>
      <vt:lpstr>Calibri</vt:lpstr>
      <vt:lpstr>Instrument Sans Semi Bold</vt:lpstr>
      <vt:lpstr>Instrument Sans Medium</vt:lpstr>
      <vt:lpstr>Calibri Light</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User</cp:lastModifiedBy>
  <cp:revision>17</cp:revision>
  <dcterms:created xsi:type="dcterms:W3CDTF">2025-06-24T05:45:12Z</dcterms:created>
  <dcterms:modified xsi:type="dcterms:W3CDTF">2025-06-24T08:29:48Z</dcterms:modified>
</cp:coreProperties>
</file>